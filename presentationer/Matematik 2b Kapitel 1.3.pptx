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embeddedFontLst>
    <p:embeddedFont>
      <p:font typeface="Raleway SemiBold"/>
      <p:regular r:id="rId56"/>
      <p:bold r:id="rId57"/>
      <p:italic r:id="rId58"/>
      <p:boldItalic r:id="rId59"/>
    </p:embeddedFont>
    <p:embeddedFont>
      <p:font typeface="Raleway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06E23D-A635-40A8-AC4D-FE8B43A3926F}">
  <a:tblStyle styleId="{4206E23D-A635-40A8-AC4D-FE8B43A392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aleway-italic.fntdata"/><Relationship Id="rId61" Type="http://schemas.openxmlformats.org/officeDocument/2006/relationships/font" Target="fonts/Raleway-bold.fntdata"/><Relationship Id="rId20" Type="http://schemas.openxmlformats.org/officeDocument/2006/relationships/slide" Target="slides/slide14.xml"/><Relationship Id="rId63" Type="http://schemas.openxmlformats.org/officeDocument/2006/relationships/font" Target="fonts/Raleway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aleway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alewaySemiBold-bold.fntdata"/><Relationship Id="rId12" Type="http://schemas.openxmlformats.org/officeDocument/2006/relationships/slide" Target="slides/slide6.xml"/><Relationship Id="rId56" Type="http://schemas.openxmlformats.org/officeDocument/2006/relationships/font" Target="fonts/Raleway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RalewaySemiBold-boldItalic.fntdata"/><Relationship Id="rId14" Type="http://schemas.openxmlformats.org/officeDocument/2006/relationships/slide" Target="slides/slide8.xml"/><Relationship Id="rId58" Type="http://schemas.openxmlformats.org/officeDocument/2006/relationships/font" Target="fonts/Raleway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0680e47a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0680e47a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09b977d8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09b977d8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09b977d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09b977d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8bb83a4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8bb83a4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8bb83a4f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8bb83a4f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8bb83a4f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8bb83a4f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8bb83a4f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8bb83a4f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8bb83a4f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8bb83a4f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8bb83a4f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8bb83a4f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8bb83a4f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8bb83a4f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8bb83a4f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8bb83a4f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8bb83a4f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8bb83a4f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12bc59b8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12bc59b8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c62d194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c62d194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c6649c1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c6649c1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c6649c1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c6649c1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c6649c12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7c6649c12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c6649c12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c6649c12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e3d6892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e3d6892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e3d68921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e3d68921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e3d6892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e3d6892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12bdb1af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12bdb1af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12bdb1af8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12bdb1af8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61d3bc5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61d3bc5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e3d68921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e3d68921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e3d6892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e3d6892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eedfd5d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eedfd5d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eedfd5d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eedfd5d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ef1624c1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7ef1624c1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ef1624c1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7ef1624c1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ef1624c1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ef1624c1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12c037f0a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12c037f0a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412c037f0a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412c037f0a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ef1624c14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7ef1624c14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412c037f0a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412c037f0a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412c037f0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412c037f0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412c037f0a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412c037f0a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412c037f0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412c037f0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412c037f0a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412c037f0a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ef1624c14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7ef1624c14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0863a9c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80863a9c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0e3def9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80e3def9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0e3def9e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80e3def9e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80863a9c2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80863a9c2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80e3def9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80e3def9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80e3def9e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80e3def9e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80e3def9e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80e3def9e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0e3def9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80e3def9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  <a:effectLst>
            <a:outerShdw blurRad="57150" rotWithShape="0" algn="bl" dir="5400000" dist="1905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solidFill>
                  <a:srgbClr val="00447B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02650" y="3811600"/>
            <a:ext cx="426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0062A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602650" y="3674200"/>
            <a:ext cx="1606800" cy="1374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209450" y="3674200"/>
            <a:ext cx="1606800" cy="1374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816250" y="3674200"/>
            <a:ext cx="1580100" cy="1374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27704" l="0" r="0" t="0"/>
          <a:stretch/>
        </p:blipFill>
        <p:spPr>
          <a:xfrm>
            <a:off x="761875" y="1331901"/>
            <a:ext cx="2840775" cy="26220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700000" dist="76200">
              <a:srgbClr val="00447B">
                <a:alpha val="82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 för avsnit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3600"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4800"/>
              <a:buNone/>
              <a:defRPr sz="4800">
                <a:solidFill>
                  <a:srgbClr val="0044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8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p10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8" name="Google Shape;7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3" name="Google Shape;8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A7"/>
              </a:buClr>
              <a:buSzPts val="2800"/>
              <a:buFont typeface="Raleway SemiBold"/>
              <a:buNone/>
              <a:defRPr sz="2800"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Char char="●"/>
              <a:defRPr sz="1800">
                <a:solidFill>
                  <a:srgbClr val="00447B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43.png"/><Relationship Id="rId5" Type="http://schemas.openxmlformats.org/officeDocument/2006/relationships/hyperlink" Target="https://www.geogebra.org/calculator/xsncnrsw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28.png"/><Relationship Id="rId6" Type="http://schemas.openxmlformats.org/officeDocument/2006/relationships/image" Target="../media/image42.png"/><Relationship Id="rId7" Type="http://schemas.openxmlformats.org/officeDocument/2006/relationships/image" Target="../media/image30.png"/><Relationship Id="rId8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45.png"/><Relationship Id="rId7" Type="http://schemas.openxmlformats.org/officeDocument/2006/relationships/image" Target="../media/image33.png"/><Relationship Id="rId8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Relationship Id="rId4" Type="http://schemas.openxmlformats.org/officeDocument/2006/relationships/image" Target="../media/image5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Matematik 2B</a:t>
            </a:r>
            <a:endParaRPr/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3602650" y="3811600"/>
            <a:ext cx="522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Kapitel 1.3 Linjära ekvationssystem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1.3 Linjära ekvationssystem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311700" y="1152475"/>
            <a:ext cx="8350500" cy="20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Ekvationer med </a:t>
            </a:r>
            <a:r>
              <a:rPr b="1" lang="sv"/>
              <a:t>två </a:t>
            </a:r>
            <a:r>
              <a:rPr lang="sv"/>
              <a:t>variabler! (till exempel x och 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och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Två </a:t>
            </a:r>
            <a:r>
              <a:rPr lang="sv"/>
              <a:t>ekvationer i ett och samma ekvationssystem!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Exempel på ett ekvationssystem: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13269" l="0" r="0" t="7132"/>
          <a:stretch/>
        </p:blipFill>
        <p:spPr>
          <a:xfrm>
            <a:off x="299366" y="3074796"/>
            <a:ext cx="1620500" cy="8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384341" y="4035671"/>
            <a:ext cx="6522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Klammern “{“ behövs för att visa att ekvationerna hör ihop i samma system!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Ekvationerna är räta linjer!</a:t>
            </a:r>
            <a:endParaRPr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311700" y="2158879"/>
            <a:ext cx="8350500" cy="4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Kan skrivas (lös ut y så att ekvationerna blir på formen y = kx + m):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13269" l="0" r="0" t="7132"/>
          <a:stretch/>
        </p:blipFill>
        <p:spPr>
          <a:xfrm>
            <a:off x="311691" y="1141765"/>
            <a:ext cx="1620500" cy="8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113" y="2831403"/>
            <a:ext cx="17716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334309" y="3887969"/>
            <a:ext cx="8350500" cy="4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Samma ekvationer skrivna på ett annat sätt!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1.3 Linjer i koordinatssystem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311700" y="1152475"/>
            <a:ext cx="83505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675" y="1152475"/>
            <a:ext cx="2690775" cy="36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88" y="1260478"/>
            <a:ext cx="17716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311700" y="2454750"/>
            <a:ext cx="3868800" cy="24966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Tabeller</a:t>
            </a:r>
            <a:br>
              <a:rPr lang="sv"/>
            </a:br>
            <a:r>
              <a:rPr lang="sv"/>
              <a:t>   y = -x +13                  y = x + 3</a:t>
            </a:r>
            <a:endParaRPr/>
          </a:p>
        </p:txBody>
      </p:sp>
      <p:sp>
        <p:nvSpPr>
          <p:cNvPr id="129" name="Google Shape;12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Ekvationer - tabeller - grafer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11700" y="994550"/>
            <a:ext cx="3868800" cy="1356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Ekvationer</a:t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034" y="1012211"/>
            <a:ext cx="329565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88" y="1392971"/>
            <a:ext cx="17716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178" y="3187821"/>
            <a:ext cx="15811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0100" y="3187825"/>
            <a:ext cx="158115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277394" y="3583504"/>
            <a:ext cx="689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11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350647" y="3967791"/>
            <a:ext cx="689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9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344813" y="4374012"/>
            <a:ext cx="689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8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408073" y="3577656"/>
            <a:ext cx="689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5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402185" y="3973234"/>
            <a:ext cx="689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7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3407656" y="4368150"/>
            <a:ext cx="6897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8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Skärningspunkten är lösningen!</a:t>
            </a:r>
            <a:endParaRPr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311700" y="1152475"/>
            <a:ext cx="405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Punkt (5, 8) är skärningspunken!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Lösning är x = 5 och y = 8</a:t>
            </a:r>
            <a:endParaRPr/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034" y="1012211"/>
            <a:ext cx="32956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Lösningen till ekvationssystem</a:t>
            </a:r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1558397" y="3375450"/>
            <a:ext cx="61893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Exempel: </a:t>
            </a:r>
            <a:r>
              <a:rPr b="1" lang="sv"/>
              <a:t>x = 5</a:t>
            </a:r>
            <a:r>
              <a:rPr lang="sv"/>
              <a:t> och </a:t>
            </a:r>
            <a:r>
              <a:rPr b="1" lang="sv"/>
              <a:t>y = 8</a:t>
            </a:r>
            <a:r>
              <a:rPr lang="sv"/>
              <a:t> är lösningar till till: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78" y="1546251"/>
            <a:ext cx="8155149" cy="18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60717" t="0"/>
          <a:stretch/>
        </p:blipFill>
        <p:spPr>
          <a:xfrm>
            <a:off x="1614705" y="3723625"/>
            <a:ext cx="1648649" cy="119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224" y="3828003"/>
            <a:ext cx="17716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Grafisk lösning</a:t>
            </a:r>
            <a:endParaRPr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311700" y="2278475"/>
            <a:ext cx="8350500" cy="22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Skriv ekvationer på formen y = kx + m (lättare att rita)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14762" l="0" r="0" t="15639"/>
          <a:stretch/>
        </p:blipFill>
        <p:spPr>
          <a:xfrm>
            <a:off x="376750" y="1017725"/>
            <a:ext cx="5886450" cy="8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Skriv ekvationer på formen y = kx + 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407800" y="1438875"/>
            <a:ext cx="12024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2</a:t>
            </a:r>
            <a:r>
              <a:rPr lang="sv"/>
              <a:t>y - x = 8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4863150" y="1017725"/>
            <a:ext cx="42810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Andra ekvationen y + x = 10</a:t>
            </a:r>
            <a:endParaRPr/>
          </a:p>
        </p:txBody>
      </p:sp>
      <p:graphicFrame>
        <p:nvGraphicFramePr>
          <p:cNvPr id="171" name="Google Shape;171;p21"/>
          <p:cNvGraphicFramePr/>
          <p:nvPr/>
        </p:nvGraphicFramePr>
        <p:xfrm>
          <a:off x="456200" y="303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{4206E23D-A635-40A8-AC4D-FE8B43A3926F}</a:tableStyleId>
              </a:tblPr>
              <a:tblGrid>
                <a:gridCol w="1047750"/>
                <a:gridCol w="1047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/>
                        <a:t>y = x/2 + 4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2" name="Google Shape;172;p21"/>
          <p:cNvGraphicFramePr/>
          <p:nvPr/>
        </p:nvGraphicFramePr>
        <p:xfrm>
          <a:off x="4863150" y="3043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{4206E23D-A635-40A8-AC4D-FE8B43A3926F}</a:tableStyleId>
              </a:tblPr>
              <a:tblGrid>
                <a:gridCol w="1047750"/>
                <a:gridCol w="1047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/>
                        <a:t>y = -x + 10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407800" y="1017725"/>
            <a:ext cx="38955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Första ekvationen 2y - x = 8		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407800" y="1767700"/>
            <a:ext cx="13488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2y = x + 8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444939" y="2159765"/>
            <a:ext cx="38955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v"/>
              <a:t>y = x/2 + 4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2213398" y="1442347"/>
            <a:ext cx="238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(+x på båda sidor)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2213164" y="175868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(/2 på båda sidor)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4921095" y="181742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y = -x + 10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694836" y="1378253"/>
            <a:ext cx="219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(-x på båda sidor)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915827" y="1400775"/>
            <a:ext cx="12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y + x = 10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756600" y="3457225"/>
            <a:ext cx="337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00447B"/>
                </a:solidFill>
              </a:rPr>
              <a:t>4</a:t>
            </a:r>
            <a:endParaRPr b="1">
              <a:solidFill>
                <a:srgbClr val="00447B"/>
              </a:solidFill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1756600" y="3836125"/>
            <a:ext cx="337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rgbClr val="00447B"/>
                </a:solidFill>
              </a:rPr>
              <a:t>7</a:t>
            </a:r>
            <a:endParaRPr>
              <a:solidFill>
                <a:srgbClr val="00447B"/>
              </a:solidFill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6159361" y="3457225"/>
            <a:ext cx="5460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rgbClr val="00447B"/>
                </a:solidFill>
              </a:rPr>
              <a:t>10</a:t>
            </a:r>
            <a:endParaRPr>
              <a:solidFill>
                <a:srgbClr val="00447B"/>
              </a:solidFill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6204405" y="3836125"/>
            <a:ext cx="5460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rgbClr val="00447B"/>
                </a:solidFill>
              </a:rPr>
              <a:t>7</a:t>
            </a:r>
            <a:endParaRPr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54800"/>
            <a:ext cx="3620749" cy="4290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2"/>
          <p:cNvGraphicFramePr/>
          <p:nvPr/>
        </p:nvGraphicFramePr>
        <p:xfrm>
          <a:off x="1787191" y="1134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{4206E23D-A635-40A8-AC4D-FE8B43A3926F}</a:tableStyleId>
              </a:tblPr>
              <a:tblGrid>
                <a:gridCol w="1047750"/>
                <a:gridCol w="1047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>
                          <a:solidFill>
                            <a:srgbClr val="0000FF"/>
                          </a:solidFill>
                        </a:rPr>
                        <a:t>x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>
                          <a:solidFill>
                            <a:srgbClr val="0000FF"/>
                          </a:solidFill>
                        </a:rPr>
                        <a:t>y = x/2 + 4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0000FF"/>
                          </a:solidFill>
                        </a:rPr>
                        <a:t>0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0000FF"/>
                          </a:solidFill>
                        </a:rPr>
                        <a:t>4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0000FF"/>
                          </a:solidFill>
                        </a:rPr>
                        <a:t>6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0000FF"/>
                          </a:solidFill>
                        </a:rPr>
                        <a:t>7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1" name="Google Shape;191;p22"/>
          <p:cNvGraphicFramePr/>
          <p:nvPr/>
        </p:nvGraphicFramePr>
        <p:xfrm>
          <a:off x="1787191" y="26989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{4206E23D-A635-40A8-AC4D-FE8B43A3926F}</a:tableStyleId>
              </a:tblPr>
              <a:tblGrid>
                <a:gridCol w="1047750"/>
                <a:gridCol w="1047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>
                          <a:solidFill>
                            <a:srgbClr val="FF0000"/>
                          </a:solidFill>
                        </a:rPr>
                        <a:t>x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v">
                          <a:solidFill>
                            <a:srgbClr val="FF0000"/>
                          </a:solidFill>
                        </a:rPr>
                        <a:t>y = -x + 10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FF0000"/>
                          </a:solidFill>
                        </a:rPr>
                        <a:t>10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FF0000"/>
                          </a:solidFill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">
                          <a:solidFill>
                            <a:srgbClr val="FF0000"/>
                          </a:solidFill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Rita punkter och linjer!</a:t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0843" y="456811"/>
            <a:ext cx="3904874" cy="425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Skärningspunkt..</a:t>
            </a:r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Punkten (4, 6) är skärningspunkt.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4 och y = 6 är lösningen!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7672"/>
          <a:stretch/>
        </p:blipFill>
        <p:spPr>
          <a:xfrm>
            <a:off x="3840654" y="135355"/>
            <a:ext cx="4776976" cy="45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311700" y="1894984"/>
            <a:ext cx="5632800" cy="25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Algebraiskt test (man kan också rita graferna):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Test ekvation 1 (x = 5, y = -2)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VL = 2*5 + 1,5*(-2) = 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HL = 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sv"/>
              <a:t>VL = HL</a:t>
            </a:r>
            <a:endParaRPr b="1"/>
          </a:p>
        </p:txBody>
      </p:sp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36"/>
            <a:ext cx="7771650" cy="14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4478018" y="2357419"/>
            <a:ext cx="3474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Test ekvation 2</a:t>
            </a:r>
            <a:r>
              <a:rPr lang="sv"/>
              <a:t> (x = 5, y = -2)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VL = 3*5 + 8(-2) = -1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HL = -3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sv"/>
              <a:t>VL ≠ HL</a:t>
            </a:r>
            <a:endParaRPr b="1"/>
          </a:p>
        </p:txBody>
      </p:sp>
      <p:sp>
        <p:nvSpPr>
          <p:cNvPr id="209" name="Google Shape;209;p24"/>
          <p:cNvSpPr txBox="1"/>
          <p:nvPr/>
        </p:nvSpPr>
        <p:spPr>
          <a:xfrm>
            <a:off x="2041600" y="4556950"/>
            <a:ext cx="50193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Svar: Nej </a:t>
            </a:r>
            <a:r>
              <a:rPr b="1" lang="sv" sz="1800">
                <a:solidFill>
                  <a:srgbClr val="00447B"/>
                </a:solidFill>
              </a:rPr>
              <a:t>(x = 5, y = -2) är inte en lösning</a:t>
            </a:r>
            <a:r>
              <a:rPr b="1" lang="sv" sz="1800">
                <a:solidFill>
                  <a:srgbClr val="00447B"/>
                </a:solidFill>
              </a:rPr>
              <a:t> </a:t>
            </a:r>
            <a:endParaRPr b="1"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45, 46. Räkna dessa please.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Ekvationssystem - Algebraiska lösningsmetoder</a:t>
            </a:r>
            <a:endParaRPr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311700" y="1333349"/>
            <a:ext cx="8350500" cy="12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A7"/>
              </a:buClr>
              <a:buSzPts val="2200"/>
              <a:buFont typeface="Raleway SemiBold"/>
              <a:buChar char="●"/>
            </a:pPr>
            <a:r>
              <a:rPr lang="sv" sz="2200"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Substitutionsmetoden</a:t>
            </a:r>
            <a:endParaRPr sz="2200">
              <a:solidFill>
                <a:srgbClr val="0062A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62A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A7"/>
              </a:buClr>
              <a:buSzPts val="2200"/>
              <a:buFont typeface="Raleway SemiBold"/>
              <a:buChar char="●"/>
            </a:pPr>
            <a:r>
              <a:rPr lang="sv" sz="2200"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Additionsmetoden</a:t>
            </a:r>
            <a:endParaRPr sz="2200">
              <a:solidFill>
                <a:srgbClr val="0062A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21024" t="0"/>
          <a:stretch/>
        </p:blipFill>
        <p:spPr>
          <a:xfrm rot="-1815002">
            <a:off x="5303230" y="1871184"/>
            <a:ext cx="1858462" cy="827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Substitutionsmetoden</a:t>
            </a:r>
            <a:endParaRPr/>
          </a:p>
        </p:txBody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311700" y="1102396"/>
            <a:ext cx="83505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 (1) ger att y = 3x - 2 (y är “samma sak som” </a:t>
            </a:r>
            <a:r>
              <a:rPr lang="sv">
                <a:solidFill>
                  <a:srgbClr val="FF0000"/>
                </a:solidFill>
              </a:rPr>
              <a:t>3x - 2</a:t>
            </a:r>
            <a:r>
              <a:rPr lang="sv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Byt ut y i ekvation (2) mot </a:t>
            </a:r>
            <a:r>
              <a:rPr lang="sv">
                <a:solidFill>
                  <a:srgbClr val="FF0000"/>
                </a:solidFill>
              </a:rPr>
              <a:t>3x - 2</a:t>
            </a:r>
            <a:r>
              <a:rPr lang="sv"/>
              <a:t> så att vi får: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175" y="384000"/>
            <a:ext cx="1975675" cy="6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575" y="2094100"/>
            <a:ext cx="1975675" cy="33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575" y="2728800"/>
            <a:ext cx="851949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574" y="2395425"/>
            <a:ext cx="1333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074" y="3038976"/>
            <a:ext cx="1625206" cy="6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2599300" y="3174250"/>
            <a:ext cx="64635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Sätt in x-värdet i någon av ekvationerna för att räkna ut y. </a:t>
            </a:r>
            <a:br>
              <a:rPr lang="sv" sz="1800">
                <a:solidFill>
                  <a:srgbClr val="00447B"/>
                </a:solidFill>
              </a:rPr>
            </a:br>
            <a:r>
              <a:rPr lang="sv" sz="1800">
                <a:solidFill>
                  <a:srgbClr val="00447B"/>
                </a:solidFill>
              </a:rPr>
              <a:t>(vi väljer ekvation (2))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y = 4 - 2∙1,2 = 1,6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Svar x = 1,2 och y = 1,6</a:t>
            </a:r>
            <a:endParaRPr sz="1800">
              <a:solidFill>
                <a:srgbClr val="00447B"/>
              </a:solidFill>
            </a:endParaRPr>
          </a:p>
        </p:txBody>
      </p:sp>
      <p:pic>
        <p:nvPicPr>
          <p:cNvPr id="235" name="Google Shape;23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84476" y="2063756"/>
            <a:ext cx="1750229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4473" y="2360611"/>
            <a:ext cx="161478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82336" y="2668506"/>
            <a:ext cx="1625200" cy="36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311700" y="1229175"/>
            <a:ext cx="7347300" cy="3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Vilket värde har x?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Lös ut x (få x ensamt) ur någon av ekvationerna. (t ex ekv 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+ 7x = 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7x = 3 - 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(3 - y)/7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(3 - 8/5)/7 =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=</a:t>
            </a:r>
            <a:r>
              <a:rPr lang="sv"/>
              <a:t>(15/5 - 8/5)/7 = (7/5)/7 = 1/5</a:t>
            </a:r>
            <a:endParaRPr/>
          </a:p>
        </p:txBody>
      </p:sp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b="14464" l="0" r="0" t="9450"/>
          <a:stretch/>
        </p:blipFill>
        <p:spPr>
          <a:xfrm>
            <a:off x="244022" y="225603"/>
            <a:ext cx="4346149" cy="11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311700" y="983275"/>
            <a:ext cx="4110000" cy="41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Lös ut x eller y ur någon ekvation:</a:t>
            </a:r>
            <a:br>
              <a:rPr lang="sv"/>
            </a:br>
            <a:r>
              <a:rPr lang="sv"/>
              <a:t>4x + y = 9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= 9 - 4x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Byt ut y i den andra ekvationen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y/4 - 2x = 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(</a:t>
            </a:r>
            <a:r>
              <a:rPr lang="sv"/>
              <a:t>9 - 4x</a:t>
            </a:r>
            <a:r>
              <a:rPr lang="sv"/>
              <a:t>)</a:t>
            </a:r>
            <a:r>
              <a:rPr lang="sv"/>
              <a:t>/4 - 2x = 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9/4 - x - 2x = 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9/4 = 3x      =&gt;     x =3/4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"/>
            <a:ext cx="36766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 txBox="1"/>
          <p:nvPr>
            <p:ph idx="1" type="body"/>
          </p:nvPr>
        </p:nvSpPr>
        <p:spPr>
          <a:xfrm>
            <a:off x="5206275" y="2368725"/>
            <a:ext cx="3676800" cy="17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4*</a:t>
            </a:r>
            <a:r>
              <a:rPr lang="sv"/>
              <a:t>3/4</a:t>
            </a:r>
            <a:r>
              <a:rPr lang="sv"/>
              <a:t>  + y = 9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= 9 - 3 =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Svar x = </a:t>
            </a:r>
            <a:r>
              <a:rPr lang="sv"/>
              <a:t>3/4</a:t>
            </a:r>
            <a:r>
              <a:rPr lang="sv"/>
              <a:t> och y =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b)</a:t>
            </a:r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870" y="445030"/>
            <a:ext cx="36766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434" y="302025"/>
            <a:ext cx="3771500" cy="46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/>
        </p:nvSpPr>
        <p:spPr>
          <a:xfrm>
            <a:off x="3124600" y="3539950"/>
            <a:ext cx="5864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900" u="sng">
                <a:solidFill>
                  <a:schemeClr val="hlink"/>
                </a:solidFill>
                <a:hlinkClick r:id="rId5"/>
              </a:rPr>
              <a:t>https://www.geogebra.org/calculator/xsncnrsw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48, 49. Räkna dessa please.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2"/>
          <p:cNvPicPr preferRelativeResize="0"/>
          <p:nvPr/>
        </p:nvPicPr>
        <p:blipFill rotWithShape="1">
          <a:blip r:embed="rId3">
            <a:alphaModFix/>
          </a:blip>
          <a:srcRect b="0" l="0" r="20861" t="0"/>
          <a:stretch/>
        </p:blipFill>
        <p:spPr>
          <a:xfrm>
            <a:off x="760601" y="1017725"/>
            <a:ext cx="21107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Additionsmetoden</a:t>
            </a:r>
            <a:endParaRPr/>
          </a:p>
        </p:txBody>
      </p:sp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5326200" y="474000"/>
            <a:ext cx="35061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6x = 30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30/6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Sätt in x = 5 i ekvation (1):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2∙5 + 3y = 16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3y =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= 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Svar x = 5 och y = 2</a:t>
            </a:r>
            <a:endParaRPr/>
          </a:p>
        </p:txBody>
      </p:sp>
      <p:pic>
        <p:nvPicPr>
          <p:cNvPr id="275" name="Google Shape;275;p32"/>
          <p:cNvPicPr preferRelativeResize="0"/>
          <p:nvPr/>
        </p:nvPicPr>
        <p:blipFill rotWithShape="1">
          <a:blip r:embed="rId3">
            <a:alphaModFix/>
          </a:blip>
          <a:srcRect b="0" l="75110" r="0" t="0"/>
          <a:stretch/>
        </p:blipFill>
        <p:spPr>
          <a:xfrm>
            <a:off x="2803506" y="1023900"/>
            <a:ext cx="6638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983" y="2105992"/>
            <a:ext cx="240030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/>
          <p:nvPr/>
        </p:nvSpPr>
        <p:spPr>
          <a:xfrm>
            <a:off x="1350175" y="1080124"/>
            <a:ext cx="578700" cy="450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1361115" y="1517265"/>
            <a:ext cx="578700" cy="450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Additionsmetoden - bygg om så det passar</a:t>
            </a:r>
            <a:endParaRPr/>
          </a:p>
        </p:txBody>
      </p:sp>
      <p:sp>
        <p:nvSpPr>
          <p:cNvPr id="284" name="Google Shape;284;p33"/>
          <p:cNvSpPr txBox="1"/>
          <p:nvPr>
            <p:ph idx="1" type="body"/>
          </p:nvPr>
        </p:nvSpPr>
        <p:spPr>
          <a:xfrm>
            <a:off x="311700" y="2112223"/>
            <a:ext cx="8350500" cy="26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Varken x-term eller y-term går att addera bort.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Vi gör om ekvationerna..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Multiplicera ekvation (1) med 2 och ekvation (2) med -3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Ekvation (1):    2(3x + 9y) = 2∙7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Ekvation (2):    (-3)(2x + 4y) = (-3)∙4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3812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 txBox="1"/>
          <p:nvPr>
            <p:ph idx="1" type="body"/>
          </p:nvPr>
        </p:nvSpPr>
        <p:spPr>
          <a:xfrm>
            <a:off x="311700" y="1152475"/>
            <a:ext cx="3950100" cy="23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 (1):    2(3x + 9y) = 2∙7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v">
                <a:solidFill>
                  <a:srgbClr val="6AA84F"/>
                </a:solidFill>
              </a:rPr>
              <a:t>6x + 18y = 14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Ekvation (2):    (-3)(2x + 4y) = (-3)∙4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6AA84F"/>
                </a:solidFill>
              </a:rPr>
              <a:t>–6x – 12y = –12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317500" y="1746250"/>
            <a:ext cx="402900" cy="30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317500" y="2780175"/>
            <a:ext cx="506400" cy="30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317500" y="3460475"/>
            <a:ext cx="39501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Addera: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0 + 6y = 2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y = 2/6 = </a:t>
            </a:r>
            <a:r>
              <a:rPr lang="sv" sz="1800">
                <a:solidFill>
                  <a:srgbClr val="00447B"/>
                </a:solidFill>
              </a:rPr>
              <a:t>1/3</a:t>
            </a:r>
            <a:r>
              <a:rPr lang="sv" sz="1800">
                <a:solidFill>
                  <a:srgbClr val="00447B"/>
                </a:solidFill>
              </a:rPr>
              <a:t>             (avrunda inte)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295" name="Google Shape;295;p34"/>
          <p:cNvSpPr txBox="1"/>
          <p:nvPr/>
        </p:nvSpPr>
        <p:spPr>
          <a:xfrm>
            <a:off x="5414100" y="1152475"/>
            <a:ext cx="3729900" cy="26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Sätt in y = </a:t>
            </a:r>
            <a:r>
              <a:rPr lang="sv" sz="1800">
                <a:solidFill>
                  <a:srgbClr val="00447B"/>
                </a:solidFill>
              </a:rPr>
              <a:t>1/3</a:t>
            </a:r>
            <a:r>
              <a:rPr lang="sv" sz="1800">
                <a:solidFill>
                  <a:srgbClr val="00447B"/>
                </a:solidFill>
              </a:rPr>
              <a:t> i ekvation (1)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6x + 18∙</a:t>
            </a:r>
            <a:r>
              <a:rPr lang="sv" sz="1800">
                <a:solidFill>
                  <a:srgbClr val="00447B"/>
                </a:solidFill>
              </a:rPr>
              <a:t>1/3 = 14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6x = 8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x = 8/6 = 4/3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Svar x = 4/3 och y = 1/3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35"/>
          <p:cNvPicPr preferRelativeResize="0"/>
          <p:nvPr/>
        </p:nvPicPr>
        <p:blipFill rotWithShape="1">
          <a:blip r:embed="rId3">
            <a:alphaModFix/>
          </a:blip>
          <a:srcRect b="8545" l="0" r="0" t="9293"/>
          <a:stretch/>
        </p:blipFill>
        <p:spPr>
          <a:xfrm>
            <a:off x="311700" y="264155"/>
            <a:ext cx="6018750" cy="10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75" y="1723750"/>
            <a:ext cx="26289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9800" y="1723750"/>
            <a:ext cx="41910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 rotWithShape="1">
          <a:blip r:embed="rId6">
            <a:alphaModFix/>
          </a:blip>
          <a:srcRect b="0" l="4834" r="0" t="0"/>
          <a:stretch/>
        </p:blipFill>
        <p:spPr>
          <a:xfrm>
            <a:off x="198650" y="2695295"/>
            <a:ext cx="6345126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5"/>
          <p:cNvPicPr preferRelativeResize="0"/>
          <p:nvPr/>
        </p:nvPicPr>
        <p:blipFill rotWithShape="1">
          <a:blip r:embed="rId7">
            <a:alphaModFix/>
          </a:blip>
          <a:srcRect b="68667" l="0" r="0" t="0"/>
          <a:stretch/>
        </p:blipFill>
        <p:spPr>
          <a:xfrm>
            <a:off x="1271550" y="3575170"/>
            <a:ext cx="1047750" cy="3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5"/>
          <p:cNvPicPr preferRelativeResize="0"/>
          <p:nvPr/>
        </p:nvPicPr>
        <p:blipFill rotWithShape="1">
          <a:blip r:embed="rId7">
            <a:alphaModFix/>
          </a:blip>
          <a:srcRect b="12656" l="0" r="0" t="29918"/>
          <a:stretch/>
        </p:blipFill>
        <p:spPr>
          <a:xfrm>
            <a:off x="1271550" y="3967870"/>
            <a:ext cx="1047750" cy="6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fortsättning…</a:t>
            </a:r>
            <a:endParaRPr/>
          </a:p>
        </p:txBody>
      </p:sp>
      <p:pic>
        <p:nvPicPr>
          <p:cNvPr id="312" name="Google Shape;312;p36"/>
          <p:cNvPicPr preferRelativeResize="0"/>
          <p:nvPr/>
        </p:nvPicPr>
        <p:blipFill rotWithShape="1">
          <a:blip r:embed="rId3">
            <a:alphaModFix/>
          </a:blip>
          <a:srcRect b="12656" l="0" r="0" t="29918"/>
          <a:stretch/>
        </p:blipFill>
        <p:spPr>
          <a:xfrm>
            <a:off x="311700" y="1152475"/>
            <a:ext cx="807425" cy="5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0175" y="149825"/>
            <a:ext cx="22288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6"/>
          <p:cNvPicPr preferRelativeResize="0"/>
          <p:nvPr/>
        </p:nvPicPr>
        <p:blipFill rotWithShape="1">
          <a:blip r:embed="rId5">
            <a:alphaModFix/>
          </a:blip>
          <a:srcRect b="76385" l="0" r="0" t="0"/>
          <a:stretch/>
        </p:blipFill>
        <p:spPr>
          <a:xfrm>
            <a:off x="1204750" y="1152466"/>
            <a:ext cx="3152775" cy="5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6"/>
          <p:cNvPicPr preferRelativeResize="0"/>
          <p:nvPr/>
        </p:nvPicPr>
        <p:blipFill rotWithShape="1">
          <a:blip r:embed="rId5">
            <a:alphaModFix/>
          </a:blip>
          <a:srcRect b="53671" l="0" r="0" t="22713"/>
          <a:stretch/>
        </p:blipFill>
        <p:spPr>
          <a:xfrm>
            <a:off x="271938" y="1699710"/>
            <a:ext cx="3152775" cy="5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6"/>
          <p:cNvPicPr preferRelativeResize="0"/>
          <p:nvPr/>
        </p:nvPicPr>
        <p:blipFill rotWithShape="1">
          <a:blip r:embed="rId5">
            <a:alphaModFix/>
          </a:blip>
          <a:srcRect b="41568" l="0" r="0" t="44641"/>
          <a:stretch/>
        </p:blipFill>
        <p:spPr>
          <a:xfrm>
            <a:off x="271950" y="2267604"/>
            <a:ext cx="3152775" cy="3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6"/>
          <p:cNvPicPr preferRelativeResize="0"/>
          <p:nvPr/>
        </p:nvPicPr>
        <p:blipFill rotWithShape="1">
          <a:blip r:embed="rId5">
            <a:alphaModFix/>
          </a:blip>
          <a:srcRect b="26796" l="0" r="0" t="59412"/>
          <a:stretch/>
        </p:blipFill>
        <p:spPr>
          <a:xfrm>
            <a:off x="271950" y="2618093"/>
            <a:ext cx="3152775" cy="3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6"/>
          <p:cNvPicPr preferRelativeResize="0"/>
          <p:nvPr/>
        </p:nvPicPr>
        <p:blipFill rotWithShape="1">
          <a:blip r:embed="rId5">
            <a:alphaModFix/>
          </a:blip>
          <a:srcRect b="2321" l="0" r="0" t="74063"/>
          <a:stretch/>
        </p:blipFill>
        <p:spPr>
          <a:xfrm>
            <a:off x="271950" y="2957255"/>
            <a:ext cx="3152775" cy="5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6"/>
          <p:cNvPicPr preferRelativeResize="0"/>
          <p:nvPr/>
        </p:nvPicPr>
        <p:blipFill rotWithShape="1">
          <a:blip r:embed="rId6">
            <a:alphaModFix/>
          </a:blip>
          <a:srcRect b="71447" l="0" r="0" t="0"/>
          <a:stretch/>
        </p:blipFill>
        <p:spPr>
          <a:xfrm>
            <a:off x="271950" y="3513825"/>
            <a:ext cx="7870975" cy="4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6"/>
          <p:cNvPicPr preferRelativeResize="0"/>
          <p:nvPr/>
        </p:nvPicPr>
        <p:blipFill rotWithShape="1">
          <a:blip r:embed="rId6">
            <a:alphaModFix/>
          </a:blip>
          <a:srcRect b="36878" l="0" r="0" t="27980"/>
          <a:stretch/>
        </p:blipFill>
        <p:spPr>
          <a:xfrm>
            <a:off x="271950" y="3979150"/>
            <a:ext cx="78709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6"/>
          <p:cNvPicPr preferRelativeResize="0"/>
          <p:nvPr/>
        </p:nvPicPr>
        <p:blipFill rotWithShape="1">
          <a:blip r:embed="rId6">
            <a:alphaModFix/>
          </a:blip>
          <a:srcRect b="0" l="0" r="0" t="61642"/>
          <a:stretch/>
        </p:blipFill>
        <p:spPr>
          <a:xfrm>
            <a:off x="271950" y="4523729"/>
            <a:ext cx="7870975" cy="6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20375" y="1340975"/>
            <a:ext cx="9334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83850" y="1902950"/>
            <a:ext cx="7810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769" y="72154"/>
            <a:ext cx="57340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7"/>
          <p:cNvSpPr txBox="1"/>
          <p:nvPr>
            <p:ph idx="1" type="body"/>
          </p:nvPr>
        </p:nvSpPr>
        <p:spPr>
          <a:xfrm>
            <a:off x="130825" y="1017725"/>
            <a:ext cx="8350500" cy="3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sv"/>
              <a:t>y = 2,0/1,2 * x - 5,4/1,2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= 1,667x - 4,5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Sätt in i (2) 0,8x + 1,4(</a:t>
            </a:r>
            <a:r>
              <a:rPr lang="sv"/>
              <a:t>1.667x - 4,5</a:t>
            </a:r>
            <a:r>
              <a:rPr lang="sv"/>
              <a:t>) = 7,8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0,8x + 2,334x - 6,3 = 7,8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3,134x = 14,1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4,50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 = </a:t>
            </a:r>
            <a:r>
              <a:rPr lang="sv"/>
              <a:t>1,667*4,5 - 4,5 = 3,0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Svar x = 4,5 och y = 3,0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Summering metoder</a:t>
            </a:r>
            <a:endParaRPr/>
          </a:p>
        </p:txBody>
      </p:sp>
      <p:sp>
        <p:nvSpPr>
          <p:cNvPr id="335" name="Google Shape;335;p38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/>
              <a:t>Substitutionsmetoden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Lös ut en variabel i en ekvation (x eller y, ta det som verkar enklast). I den andra ekvationen: ersätt variabel med det uttryck du fick när du löste ut variabel i den första ekvationen. Nu kan du lösa en ekvation med bara en variabel.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Additionsmetoden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En variabelterm behöver vara lika fast med omvänt tecken i de två ekvationerna (exempelvis 3x och -3x). Summera ekvationerna term för term så att en variabelterm försvinner. </a:t>
            </a:r>
            <a:r>
              <a:rPr lang="sv"/>
              <a:t> Nu kan du lösa en ekvation med bara en variabel.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51, 52. Räkna dessa please.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Problemlösning</a:t>
            </a:r>
            <a:endParaRPr/>
          </a:p>
        </p:txBody>
      </p:sp>
      <p:sp>
        <p:nvSpPr>
          <p:cNvPr id="347" name="Google Shape;347;p40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sv"/>
              <a:t>Förstå problemet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sv"/>
              <a:t>Definiera variabler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sv"/>
              <a:t>Teckna och lös ekvationer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sv"/>
              <a:t>Reflektera över svar (är de rimliga? kan de kontrolleras? svarar de på uppgiftens frågor?)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sv"/>
              <a:t>Skriv svar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Övningsexempel</a:t>
            </a:r>
            <a:endParaRPr/>
          </a:p>
        </p:txBody>
      </p:sp>
      <p:sp>
        <p:nvSpPr>
          <p:cNvPr id="353" name="Google Shape;353;p41"/>
          <p:cNvSpPr txBox="1"/>
          <p:nvPr>
            <p:ph idx="1" type="body"/>
          </p:nvPr>
        </p:nvSpPr>
        <p:spPr>
          <a:xfrm>
            <a:off x="311700" y="1017725"/>
            <a:ext cx="8350500" cy="27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Till en idrottstävling kostade sittplatsbiljetterna 90 kr och ståplatsbiljetterna 50 kr. Sammanlagt såldes 1 460 biljetter för 97 800 kr. Hur många biljetter av varje slag sålde man?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Vi väljer </a:t>
            </a:r>
            <a:r>
              <a:rPr b="1" lang="sv"/>
              <a:t>x</a:t>
            </a:r>
            <a:r>
              <a:rPr lang="sv"/>
              <a:t> = antal sittplatsbiljetter och </a:t>
            </a:r>
            <a:r>
              <a:rPr b="1" lang="sv"/>
              <a:t>y</a:t>
            </a:r>
            <a:r>
              <a:rPr lang="sv"/>
              <a:t> = </a:t>
            </a:r>
            <a:r>
              <a:rPr lang="sv"/>
              <a:t>antal ståplatsbiljetter.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x</a:t>
            </a:r>
            <a:r>
              <a:rPr lang="sv"/>
              <a:t> + </a:t>
            </a:r>
            <a:r>
              <a:rPr b="1" lang="sv"/>
              <a:t>y</a:t>
            </a:r>
            <a:r>
              <a:rPr lang="sv"/>
              <a:t> = 1460  (antal biljetter)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90</a:t>
            </a:r>
            <a:r>
              <a:rPr b="1" lang="sv"/>
              <a:t>x</a:t>
            </a:r>
            <a:r>
              <a:rPr lang="sv"/>
              <a:t> + 50</a:t>
            </a:r>
            <a:r>
              <a:rPr b="1" lang="sv"/>
              <a:t>y</a:t>
            </a:r>
            <a:r>
              <a:rPr lang="sv"/>
              <a:t> = 97800 (säljbelopp)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Ekvationssystemet:</a:t>
            </a:r>
            <a:endParaRPr/>
          </a:p>
        </p:txBody>
      </p:sp>
      <p:pic>
        <p:nvPicPr>
          <p:cNvPr id="354" name="Google Shape;354;p41"/>
          <p:cNvPicPr preferRelativeResize="0"/>
          <p:nvPr/>
        </p:nvPicPr>
        <p:blipFill rotWithShape="1">
          <a:blip r:embed="rId3">
            <a:alphaModFix/>
          </a:blip>
          <a:srcRect b="0" l="0" r="17831" t="0"/>
          <a:stretch/>
        </p:blipFill>
        <p:spPr>
          <a:xfrm>
            <a:off x="268465" y="4167257"/>
            <a:ext cx="2614150" cy="7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2"/>
          <p:cNvPicPr preferRelativeResize="0"/>
          <p:nvPr/>
        </p:nvPicPr>
        <p:blipFill rotWithShape="1">
          <a:blip r:embed="rId3">
            <a:alphaModFix/>
          </a:blip>
          <a:srcRect b="0" l="0" r="16805" t="0"/>
          <a:stretch/>
        </p:blipFill>
        <p:spPr>
          <a:xfrm>
            <a:off x="268450" y="493350"/>
            <a:ext cx="2094175" cy="6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2"/>
          <p:cNvSpPr txBox="1"/>
          <p:nvPr/>
        </p:nvSpPr>
        <p:spPr>
          <a:xfrm>
            <a:off x="141100" y="1189904"/>
            <a:ext cx="3690000" cy="1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Vi väljer additionsmetoden för att lösa ekvationssystemet.</a:t>
            </a:r>
            <a:br>
              <a:rPr lang="sv" sz="1800">
                <a:solidFill>
                  <a:srgbClr val="00447B"/>
                </a:solidFill>
              </a:rPr>
            </a:br>
            <a:br>
              <a:rPr lang="sv" sz="1800">
                <a:solidFill>
                  <a:srgbClr val="00447B"/>
                </a:solidFill>
              </a:rPr>
            </a:br>
            <a:r>
              <a:rPr lang="sv" sz="1800">
                <a:solidFill>
                  <a:srgbClr val="00447B"/>
                </a:solidFill>
              </a:rPr>
              <a:t>multiplicera (1) med -50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361" name="Google Shape;361;p42"/>
          <p:cNvSpPr txBox="1"/>
          <p:nvPr/>
        </p:nvSpPr>
        <p:spPr>
          <a:xfrm>
            <a:off x="211975" y="3195570"/>
            <a:ext cx="369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Addera</a:t>
            </a:r>
            <a:r>
              <a:rPr lang="sv" sz="1800">
                <a:solidFill>
                  <a:srgbClr val="00447B"/>
                </a:solidFill>
              </a:rPr>
              <a:t> ekvationerna…</a:t>
            </a:r>
            <a:endParaRPr sz="1800">
              <a:solidFill>
                <a:srgbClr val="00447B"/>
              </a:solidFill>
            </a:endParaRPr>
          </a:p>
        </p:txBody>
      </p:sp>
      <p:pic>
        <p:nvPicPr>
          <p:cNvPr id="362" name="Google Shape;36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75" y="2435784"/>
            <a:ext cx="2851500" cy="62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850" y="3671352"/>
            <a:ext cx="1682250" cy="2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850" y="4089077"/>
            <a:ext cx="1989005" cy="6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2"/>
          <p:cNvSpPr txBox="1"/>
          <p:nvPr/>
        </p:nvSpPr>
        <p:spPr>
          <a:xfrm>
            <a:off x="4472200" y="541125"/>
            <a:ext cx="4555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Vad blir y? Använd ursprunglig ekvation (1)</a:t>
            </a:r>
            <a:endParaRPr sz="1800">
              <a:solidFill>
                <a:srgbClr val="00447B"/>
              </a:solidFill>
            </a:endParaRPr>
          </a:p>
        </p:txBody>
      </p:sp>
      <p:pic>
        <p:nvPicPr>
          <p:cNvPr id="366" name="Google Shape;366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1106821"/>
            <a:ext cx="1989000" cy="395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0" y="1509842"/>
            <a:ext cx="2851500" cy="39788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2"/>
          <p:cNvSpPr txBox="1"/>
          <p:nvPr/>
        </p:nvSpPr>
        <p:spPr>
          <a:xfrm>
            <a:off x="4472200" y="2109225"/>
            <a:ext cx="45558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Svar: 620 </a:t>
            </a:r>
            <a:r>
              <a:rPr lang="sv" sz="1800">
                <a:solidFill>
                  <a:srgbClr val="00447B"/>
                </a:solidFill>
              </a:rPr>
              <a:t>sittplatsbiljetter och 840 ståplatsbiljetter </a:t>
            </a:r>
            <a:endParaRPr sz="1800">
              <a:solidFill>
                <a:srgbClr val="00447B"/>
              </a:solidFill>
            </a:endParaRPr>
          </a:p>
        </p:txBody>
      </p:sp>
      <p:pic>
        <p:nvPicPr>
          <p:cNvPr id="369" name="Google Shape;369;p42"/>
          <p:cNvPicPr preferRelativeResize="0"/>
          <p:nvPr/>
        </p:nvPicPr>
        <p:blipFill rotWithShape="1">
          <a:blip r:embed="rId3">
            <a:alphaModFix/>
          </a:blip>
          <a:srcRect b="0" l="83949" r="0" t="0"/>
          <a:stretch/>
        </p:blipFill>
        <p:spPr>
          <a:xfrm>
            <a:off x="2362627" y="493350"/>
            <a:ext cx="404026" cy="6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Övningsexempel 2..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3"/>
          <p:cNvSpPr txBox="1"/>
          <p:nvPr>
            <p:ph idx="1" type="body"/>
          </p:nvPr>
        </p:nvSpPr>
        <p:spPr>
          <a:xfrm>
            <a:off x="311700" y="1152475"/>
            <a:ext cx="8350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En anställd på en fabrik har två olika möjligheter att få betalt: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6AA84F"/>
                </a:solidFill>
              </a:rPr>
              <a:t>i) en fast lön på 220 kr/tim plus 6 kr per tillverkad enhet.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FF0000"/>
                </a:solidFill>
              </a:rPr>
              <a:t>ii) en fast lön på 180 kr/tim plus 10 kr per tillverkad enhet.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a) Rita grafen av de linjära funktionerna som beskriver lönen i de båda fallen.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Vi väljer </a:t>
            </a:r>
            <a:r>
              <a:rPr b="1" lang="sv"/>
              <a:t>y</a:t>
            </a:r>
            <a:r>
              <a:rPr lang="sv"/>
              <a:t> är lönen och </a:t>
            </a:r>
            <a:r>
              <a:rPr b="1" lang="sv"/>
              <a:t>x</a:t>
            </a:r>
            <a:r>
              <a:rPr lang="sv"/>
              <a:t> är antalet tillverkade enheter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sv">
                <a:solidFill>
                  <a:srgbClr val="6AA84F"/>
                </a:solidFill>
              </a:rPr>
              <a:t>y</a:t>
            </a:r>
            <a:r>
              <a:rPr b="1" baseline="-25000" lang="sv">
                <a:solidFill>
                  <a:srgbClr val="6AA84F"/>
                </a:solidFill>
              </a:rPr>
              <a:t>i</a:t>
            </a:r>
            <a:r>
              <a:rPr b="1" lang="sv">
                <a:solidFill>
                  <a:srgbClr val="6AA84F"/>
                </a:solidFill>
              </a:rPr>
              <a:t> = 6x + 220</a:t>
            </a:r>
            <a:r>
              <a:rPr lang="sv"/>
              <a:t> och </a:t>
            </a:r>
            <a:r>
              <a:rPr b="1" lang="sv">
                <a:solidFill>
                  <a:srgbClr val="FF0000"/>
                </a:solidFill>
              </a:rPr>
              <a:t>y</a:t>
            </a:r>
            <a:r>
              <a:rPr b="1" baseline="-25000" lang="sv">
                <a:solidFill>
                  <a:srgbClr val="FF0000"/>
                </a:solidFill>
              </a:rPr>
              <a:t>ii</a:t>
            </a:r>
            <a:r>
              <a:rPr b="1" lang="sv">
                <a:solidFill>
                  <a:srgbClr val="FF0000"/>
                </a:solidFill>
              </a:rPr>
              <a:t> = 10x + 180</a:t>
            </a:r>
            <a:r>
              <a:rPr lang="sv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4"/>
          <p:cNvSpPr txBox="1"/>
          <p:nvPr>
            <p:ph idx="1" type="body"/>
          </p:nvPr>
        </p:nvSpPr>
        <p:spPr>
          <a:xfrm>
            <a:off x="311700" y="1152475"/>
            <a:ext cx="351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6AA84F"/>
                </a:solidFill>
              </a:rPr>
              <a:t>y</a:t>
            </a:r>
            <a:r>
              <a:rPr b="1" baseline="-25000" lang="sv">
                <a:solidFill>
                  <a:srgbClr val="6AA84F"/>
                </a:solidFill>
              </a:rPr>
              <a:t>i</a:t>
            </a:r>
            <a:r>
              <a:rPr b="1" lang="sv">
                <a:solidFill>
                  <a:srgbClr val="6AA84F"/>
                </a:solidFill>
              </a:rPr>
              <a:t> = 6x + 220</a:t>
            </a:r>
            <a:r>
              <a:rPr lang="sv"/>
              <a:t> och </a:t>
            </a:r>
            <a:r>
              <a:rPr b="1" lang="sv">
                <a:solidFill>
                  <a:srgbClr val="FF0000"/>
                </a:solidFill>
              </a:rPr>
              <a:t>y</a:t>
            </a:r>
            <a:r>
              <a:rPr b="1" baseline="-25000" lang="sv">
                <a:solidFill>
                  <a:srgbClr val="FF0000"/>
                </a:solidFill>
              </a:rPr>
              <a:t>ii</a:t>
            </a:r>
            <a:r>
              <a:rPr b="1" lang="sv">
                <a:solidFill>
                  <a:srgbClr val="FF0000"/>
                </a:solidFill>
              </a:rPr>
              <a:t> = 10x + 180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Skärning vid x = 10. Vad betyder det?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b) När är det förmånligast att välja alternativ i)? Alternativ ii)?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82" name="Google Shape;382;p44"/>
          <p:cNvPicPr preferRelativeResize="0"/>
          <p:nvPr/>
        </p:nvPicPr>
        <p:blipFill rotWithShape="1">
          <a:blip r:embed="rId3">
            <a:alphaModFix/>
          </a:blip>
          <a:srcRect b="0" l="0" r="0" t="30777"/>
          <a:stretch/>
        </p:blipFill>
        <p:spPr>
          <a:xfrm>
            <a:off x="5183475" y="445026"/>
            <a:ext cx="3716500" cy="405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 txBox="1"/>
          <p:nvPr>
            <p:ph idx="1" type="body"/>
          </p:nvPr>
        </p:nvSpPr>
        <p:spPr>
          <a:xfrm>
            <a:off x="1054925" y="3378350"/>
            <a:ext cx="3021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x + y = 240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x = 2y + 30 </a:t>
            </a:r>
            <a:endParaRPr/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94100"/>
            <a:ext cx="58102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716" y="3423370"/>
            <a:ext cx="289725" cy="10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5"/>
          <p:cNvSpPr txBox="1"/>
          <p:nvPr/>
        </p:nvSpPr>
        <p:spPr>
          <a:xfrm>
            <a:off x="157650" y="3355800"/>
            <a:ext cx="416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a)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1054925" y="1981976"/>
            <a:ext cx="3021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x + y = 240       (1)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x = 2y + 30       (2)</a:t>
            </a:r>
            <a:endParaRPr/>
          </a:p>
        </p:txBody>
      </p:sp>
      <p:pic>
        <p:nvPicPr>
          <p:cNvPr id="397" name="Google Shape;397;p46"/>
          <p:cNvPicPr preferRelativeResize="0"/>
          <p:nvPr/>
        </p:nvPicPr>
        <p:blipFill rotWithShape="1">
          <a:blip r:embed="rId3">
            <a:alphaModFix/>
          </a:blip>
          <a:srcRect b="39391" l="12402" r="2187" t="3029"/>
          <a:stretch/>
        </p:blipFill>
        <p:spPr>
          <a:xfrm>
            <a:off x="84575" y="247725"/>
            <a:ext cx="4962300" cy="16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716" y="2026995"/>
            <a:ext cx="289725" cy="10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6"/>
          <p:cNvSpPr txBox="1"/>
          <p:nvPr/>
        </p:nvSpPr>
        <p:spPr>
          <a:xfrm>
            <a:off x="157650" y="1959426"/>
            <a:ext cx="416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b</a:t>
            </a:r>
            <a:r>
              <a:rPr lang="sv" sz="1800">
                <a:solidFill>
                  <a:srgbClr val="00447B"/>
                </a:solidFill>
              </a:rPr>
              <a:t>)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3783769" y="1677925"/>
            <a:ext cx="52926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Substituera x i ekvation 1 med 2y + 30 i ekvation 2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2y + 30 + y = 240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3y + 30 = 240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3y = 210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y = 70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sz="1800">
                <a:solidFill>
                  <a:srgbClr val="00447B"/>
                </a:solidFill>
              </a:rPr>
              <a:t>x = 2∙70 +30 = 170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</p:txBody>
      </p:sp>
      <p:pic>
        <p:nvPicPr>
          <p:cNvPr id="401" name="Google Shape;401;p46"/>
          <p:cNvPicPr preferRelativeResize="0"/>
          <p:nvPr/>
        </p:nvPicPr>
        <p:blipFill rotWithShape="1">
          <a:blip r:embed="rId3">
            <a:alphaModFix/>
          </a:blip>
          <a:srcRect b="830" l="12168" r="20003" t="74021"/>
          <a:stretch/>
        </p:blipFill>
        <p:spPr>
          <a:xfrm>
            <a:off x="5123834" y="202678"/>
            <a:ext cx="3941350" cy="7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6"/>
          <p:cNvSpPr txBox="1"/>
          <p:nvPr/>
        </p:nvSpPr>
        <p:spPr>
          <a:xfrm>
            <a:off x="84578" y="3713412"/>
            <a:ext cx="34515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Svar: 170 personbilar står på</a:t>
            </a:r>
            <a:br>
              <a:rPr b="1" lang="sv" sz="1800">
                <a:solidFill>
                  <a:srgbClr val="00447B"/>
                </a:solidFill>
              </a:rPr>
            </a:br>
            <a:r>
              <a:rPr b="1" lang="sv" sz="1800">
                <a:solidFill>
                  <a:srgbClr val="00447B"/>
                </a:solidFill>
              </a:rPr>
              <a:t>parkeringen</a:t>
            </a:r>
            <a:endParaRPr b="1"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408" name="Google Shape;408;p47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54, 55. Räkna dessa please.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Tre typer av ekvationssystem </a:t>
            </a:r>
            <a:endParaRPr/>
          </a:p>
        </p:txBody>
      </p:sp>
      <p:sp>
        <p:nvSpPr>
          <p:cNvPr id="414" name="Google Shape;414;p48"/>
          <p:cNvSpPr txBox="1"/>
          <p:nvPr>
            <p:ph idx="1" type="body"/>
          </p:nvPr>
        </p:nvSpPr>
        <p:spPr>
          <a:xfrm>
            <a:off x="311700" y="1475200"/>
            <a:ext cx="77286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" sz="2600"/>
              <a:t>Ekvationssystem med en</a:t>
            </a:r>
            <a:r>
              <a:rPr lang="sv" sz="2600"/>
              <a:t> lösning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" sz="2600"/>
              <a:t>Ekvationssystem som saknar lösning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sv" sz="2600"/>
              <a:t>Ekvationssystem med oändligt </a:t>
            </a:r>
            <a:r>
              <a:rPr lang="sv" sz="2600"/>
              <a:t>många lösningar</a:t>
            </a:r>
            <a:endParaRPr sz="2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2600"/>
              <a:buFont typeface="Arial"/>
              <a:buAutoNum type="arabicPeriod"/>
            </a:pPr>
            <a:r>
              <a:rPr lang="sv" sz="2600">
                <a:solidFill>
                  <a:srgbClr val="00447B"/>
                </a:solidFill>
                <a:latin typeface="Arial"/>
                <a:ea typeface="Arial"/>
                <a:cs typeface="Arial"/>
                <a:sym typeface="Arial"/>
              </a:rPr>
              <a:t>Ekvationssystem med en lösning</a:t>
            </a:r>
            <a:endParaRPr sz="2600">
              <a:solidFill>
                <a:srgbClr val="0044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2023375" y="3996300"/>
            <a:ext cx="25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Svar: x = 2 och y = 4</a:t>
            </a:r>
            <a:endParaRPr sz="2000"/>
          </a:p>
        </p:txBody>
      </p:sp>
      <p:pic>
        <p:nvPicPr>
          <p:cNvPr id="421" name="Google Shape;421;p49"/>
          <p:cNvPicPr preferRelativeResize="0"/>
          <p:nvPr/>
        </p:nvPicPr>
        <p:blipFill rotWithShape="1">
          <a:blip r:embed="rId3">
            <a:alphaModFix/>
          </a:blip>
          <a:srcRect b="55881" l="0" r="55205" t="4951"/>
          <a:stretch/>
        </p:blipFill>
        <p:spPr>
          <a:xfrm>
            <a:off x="311700" y="1152475"/>
            <a:ext cx="4046351" cy="13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9"/>
          <p:cNvPicPr preferRelativeResize="0"/>
          <p:nvPr/>
        </p:nvPicPr>
        <p:blipFill rotWithShape="1">
          <a:blip r:embed="rId3">
            <a:alphaModFix/>
          </a:blip>
          <a:srcRect b="0" l="71976" r="1782" t="4952"/>
          <a:stretch/>
        </p:blipFill>
        <p:spPr>
          <a:xfrm>
            <a:off x="5540450" y="1152475"/>
            <a:ext cx="247674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9"/>
          <p:cNvPicPr preferRelativeResize="0"/>
          <p:nvPr/>
        </p:nvPicPr>
        <p:blipFill rotWithShape="1">
          <a:blip r:embed="rId3">
            <a:alphaModFix/>
          </a:blip>
          <a:srcRect b="40711" l="0" r="55205" t="47832"/>
          <a:stretch/>
        </p:blipFill>
        <p:spPr>
          <a:xfrm>
            <a:off x="311700" y="2544611"/>
            <a:ext cx="4046351" cy="39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9"/>
          <p:cNvPicPr preferRelativeResize="0"/>
          <p:nvPr/>
        </p:nvPicPr>
        <p:blipFill rotWithShape="1">
          <a:blip r:embed="rId3">
            <a:alphaModFix/>
          </a:blip>
          <a:srcRect b="30540" l="0" r="55205" t="59312"/>
          <a:stretch/>
        </p:blipFill>
        <p:spPr>
          <a:xfrm>
            <a:off x="311700" y="2938745"/>
            <a:ext cx="4046351" cy="3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9"/>
          <p:cNvPicPr preferRelativeResize="0"/>
          <p:nvPr/>
        </p:nvPicPr>
        <p:blipFill rotWithShape="1">
          <a:blip r:embed="rId3">
            <a:alphaModFix/>
          </a:blip>
          <a:srcRect b="20382" l="0" r="55205" t="69470"/>
          <a:stretch/>
        </p:blipFill>
        <p:spPr>
          <a:xfrm>
            <a:off x="311700" y="3287853"/>
            <a:ext cx="4046351" cy="3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9"/>
          <p:cNvPicPr preferRelativeResize="0"/>
          <p:nvPr/>
        </p:nvPicPr>
        <p:blipFill rotWithShape="1">
          <a:blip r:embed="rId3">
            <a:alphaModFix/>
          </a:blip>
          <a:srcRect b="9240" l="0" r="55205" t="80612"/>
          <a:stretch/>
        </p:blipFill>
        <p:spPr>
          <a:xfrm>
            <a:off x="311700" y="3636958"/>
            <a:ext cx="4046351" cy="3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2600"/>
              <a:buFont typeface="Arial"/>
              <a:buAutoNum type="arabicPeriod" startAt="2"/>
            </a:pPr>
            <a:r>
              <a:rPr lang="sv" sz="2600">
                <a:solidFill>
                  <a:srgbClr val="00447B"/>
                </a:solidFill>
                <a:latin typeface="Arial"/>
                <a:ea typeface="Arial"/>
                <a:cs typeface="Arial"/>
                <a:sym typeface="Arial"/>
              </a:rPr>
              <a:t>Ekvationssystem som saknar lösning</a:t>
            </a:r>
            <a:endParaRPr sz="2600">
              <a:solidFill>
                <a:srgbClr val="0044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0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50"/>
          <p:cNvPicPr preferRelativeResize="0"/>
          <p:nvPr/>
        </p:nvPicPr>
        <p:blipFill rotWithShape="1">
          <a:blip r:embed="rId3">
            <a:alphaModFix/>
          </a:blip>
          <a:srcRect b="74371" l="0" r="0" t="0"/>
          <a:stretch/>
        </p:blipFill>
        <p:spPr>
          <a:xfrm>
            <a:off x="311700" y="1127125"/>
            <a:ext cx="4362450" cy="88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0"/>
          <p:cNvPicPr preferRelativeResize="0"/>
          <p:nvPr/>
        </p:nvPicPr>
        <p:blipFill rotWithShape="1">
          <a:blip r:embed="rId3">
            <a:alphaModFix/>
          </a:blip>
          <a:srcRect b="63501" l="0" r="0" t="27730"/>
          <a:stretch/>
        </p:blipFill>
        <p:spPr>
          <a:xfrm>
            <a:off x="311700" y="2015725"/>
            <a:ext cx="4362450" cy="30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0"/>
          <p:cNvPicPr preferRelativeResize="0"/>
          <p:nvPr/>
        </p:nvPicPr>
        <p:blipFill rotWithShape="1">
          <a:blip r:embed="rId3">
            <a:alphaModFix/>
          </a:blip>
          <a:srcRect b="53606" l="0" r="0" t="36001"/>
          <a:stretch/>
        </p:blipFill>
        <p:spPr>
          <a:xfrm>
            <a:off x="311700" y="2391575"/>
            <a:ext cx="4362450" cy="3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0"/>
          <p:cNvPicPr preferRelativeResize="0"/>
          <p:nvPr/>
        </p:nvPicPr>
        <p:blipFill rotWithShape="1">
          <a:blip r:embed="rId3">
            <a:alphaModFix/>
          </a:blip>
          <a:srcRect b="2532" l="0" r="0" t="77566"/>
          <a:stretch/>
        </p:blipFill>
        <p:spPr>
          <a:xfrm>
            <a:off x="311700" y="2823725"/>
            <a:ext cx="4362450" cy="6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0"/>
          <p:cNvPicPr preferRelativeResize="0"/>
          <p:nvPr/>
        </p:nvPicPr>
        <p:blipFill rotWithShape="1">
          <a:blip r:embed="rId4">
            <a:alphaModFix/>
          </a:blip>
          <a:srcRect b="2969" l="0" r="0" t="0"/>
          <a:stretch/>
        </p:blipFill>
        <p:spPr>
          <a:xfrm>
            <a:off x="5665450" y="1127125"/>
            <a:ext cx="2476325" cy="30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2600"/>
              <a:buFont typeface="Arial"/>
              <a:buAutoNum type="arabicPeriod" startAt="3"/>
            </a:pPr>
            <a:r>
              <a:rPr lang="sv" sz="2600">
                <a:solidFill>
                  <a:srgbClr val="00447B"/>
                </a:solidFill>
                <a:latin typeface="Arial"/>
                <a:ea typeface="Arial"/>
                <a:cs typeface="Arial"/>
                <a:sym typeface="Arial"/>
              </a:rPr>
              <a:t>Ekvationssystem med oändligt många lösningar</a:t>
            </a:r>
            <a:endParaRPr sz="2600">
              <a:solidFill>
                <a:srgbClr val="0044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1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51"/>
          <p:cNvPicPr preferRelativeResize="0"/>
          <p:nvPr/>
        </p:nvPicPr>
        <p:blipFill rotWithShape="1">
          <a:blip r:embed="rId3">
            <a:alphaModFix/>
          </a:blip>
          <a:srcRect b="71719" l="1078" r="1816" t="0"/>
          <a:stretch/>
        </p:blipFill>
        <p:spPr>
          <a:xfrm>
            <a:off x="311700" y="1174750"/>
            <a:ext cx="5382800" cy="9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325" y="1174750"/>
            <a:ext cx="2606875" cy="320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1"/>
          <p:cNvPicPr preferRelativeResize="0"/>
          <p:nvPr/>
        </p:nvPicPr>
        <p:blipFill rotWithShape="1">
          <a:blip r:embed="rId3">
            <a:alphaModFix/>
          </a:blip>
          <a:srcRect b="27811" l="1078" r="1816" t="29775"/>
          <a:stretch/>
        </p:blipFill>
        <p:spPr>
          <a:xfrm>
            <a:off x="311700" y="2061038"/>
            <a:ext cx="5382800" cy="14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1"/>
          <p:cNvPicPr preferRelativeResize="0"/>
          <p:nvPr/>
        </p:nvPicPr>
        <p:blipFill rotWithShape="1">
          <a:blip r:embed="rId3">
            <a:alphaModFix/>
          </a:blip>
          <a:srcRect b="0" l="1078" r="1816" t="76679"/>
          <a:stretch/>
        </p:blipFill>
        <p:spPr>
          <a:xfrm>
            <a:off x="311689" y="3445875"/>
            <a:ext cx="5382800" cy="7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själva please!</a:t>
            </a:r>
            <a:endParaRPr/>
          </a:p>
        </p:txBody>
      </p:sp>
      <p:sp>
        <p:nvSpPr>
          <p:cNvPr id="453" name="Google Shape;453;p52"/>
          <p:cNvSpPr txBox="1"/>
          <p:nvPr>
            <p:ph idx="1" type="body"/>
          </p:nvPr>
        </p:nvSpPr>
        <p:spPr>
          <a:xfrm>
            <a:off x="311700" y="1152475"/>
            <a:ext cx="7266900" cy="22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000"/>
              <a:t>Om du är klar med övningar </a:t>
            </a:r>
            <a:r>
              <a:rPr lang="sv" sz="2000"/>
              <a:t>48, 49 (substitutionsmetoden)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 sz="2000"/>
              <a:t>samt 51, 52 (additionsmetoden)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sz="2000"/>
              <a:t>och 54, 55 (problemlösning)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 sz="2000"/>
              <a:t>…så räknar du </a:t>
            </a:r>
            <a:r>
              <a:rPr lang="sv" sz="2000"/>
              <a:t>s.58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/>
          <p:nvPr/>
        </p:nvSpPr>
        <p:spPr>
          <a:xfrm>
            <a:off x="4815400" y="1062851"/>
            <a:ext cx="2109300" cy="401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3"/>
          <p:cNvSpPr/>
          <p:nvPr/>
        </p:nvSpPr>
        <p:spPr>
          <a:xfrm>
            <a:off x="2650200" y="1060275"/>
            <a:ext cx="2109300" cy="401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3"/>
          <p:cNvSpPr/>
          <p:nvPr/>
        </p:nvSpPr>
        <p:spPr>
          <a:xfrm>
            <a:off x="462450" y="1060275"/>
            <a:ext cx="2109300" cy="401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3"/>
          <p:cNvSpPr txBox="1"/>
          <p:nvPr>
            <p:ph type="title"/>
          </p:nvPr>
        </p:nvSpPr>
        <p:spPr>
          <a:xfrm>
            <a:off x="571131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Tre typer av ekvationssystem </a:t>
            </a:r>
            <a:endParaRPr/>
          </a:p>
        </p:txBody>
      </p:sp>
      <p:pic>
        <p:nvPicPr>
          <p:cNvPr id="462" name="Google Shape;462;p53"/>
          <p:cNvPicPr preferRelativeResize="0"/>
          <p:nvPr/>
        </p:nvPicPr>
        <p:blipFill rotWithShape="1">
          <a:blip r:embed="rId3">
            <a:alphaModFix/>
          </a:blip>
          <a:srcRect b="0" l="0" r="69347" t="12350"/>
          <a:stretch/>
        </p:blipFill>
        <p:spPr>
          <a:xfrm>
            <a:off x="571125" y="1122875"/>
            <a:ext cx="1921200" cy="81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3"/>
          <p:cNvPicPr preferRelativeResize="0"/>
          <p:nvPr/>
        </p:nvPicPr>
        <p:blipFill rotWithShape="1">
          <a:blip r:embed="rId4">
            <a:alphaModFix/>
          </a:blip>
          <a:srcRect b="0" l="0" r="0" t="4058"/>
          <a:stretch/>
        </p:blipFill>
        <p:spPr>
          <a:xfrm>
            <a:off x="616225" y="2019763"/>
            <a:ext cx="1847125" cy="192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3"/>
          <p:cNvPicPr preferRelativeResize="0"/>
          <p:nvPr/>
        </p:nvPicPr>
        <p:blipFill rotWithShape="1">
          <a:blip r:embed="rId5">
            <a:alphaModFix/>
          </a:blip>
          <a:srcRect b="900" l="0" r="0" t="-900"/>
          <a:stretch/>
        </p:blipFill>
        <p:spPr>
          <a:xfrm>
            <a:off x="2924661" y="1950094"/>
            <a:ext cx="1730975" cy="20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6916" y="1994289"/>
            <a:ext cx="1638400" cy="18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3"/>
          <p:cNvSpPr txBox="1"/>
          <p:nvPr/>
        </p:nvSpPr>
        <p:spPr>
          <a:xfrm>
            <a:off x="542157" y="3890315"/>
            <a:ext cx="192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En lösning finns! </a:t>
            </a:r>
            <a:endParaRPr b="1"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x = 2 och y = 4</a:t>
            </a:r>
            <a:endParaRPr b="1" sz="1800">
              <a:solidFill>
                <a:srgbClr val="00447B"/>
              </a:solidFill>
            </a:endParaRPr>
          </a:p>
        </p:txBody>
      </p:sp>
      <p:sp>
        <p:nvSpPr>
          <p:cNvPr id="467" name="Google Shape;467;p53"/>
          <p:cNvSpPr txBox="1"/>
          <p:nvPr/>
        </p:nvSpPr>
        <p:spPr>
          <a:xfrm>
            <a:off x="2697474" y="3897151"/>
            <a:ext cx="203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Lösning finns inte! (ingen skärningspunkt)</a:t>
            </a:r>
            <a:endParaRPr b="1" sz="1800">
              <a:solidFill>
                <a:srgbClr val="00447B"/>
              </a:solidFill>
            </a:endParaRPr>
          </a:p>
        </p:txBody>
      </p:sp>
      <p:sp>
        <p:nvSpPr>
          <p:cNvPr id="468" name="Google Shape;468;p53"/>
          <p:cNvSpPr txBox="1"/>
          <p:nvPr/>
        </p:nvSpPr>
        <p:spPr>
          <a:xfrm>
            <a:off x="4850499" y="3903982"/>
            <a:ext cx="203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800">
                <a:solidFill>
                  <a:srgbClr val="00447B"/>
                </a:solidFill>
              </a:rPr>
              <a:t>Oändligt med lösningar!</a:t>
            </a:r>
            <a:endParaRPr b="1" sz="1800">
              <a:solidFill>
                <a:srgbClr val="00447B"/>
              </a:solidFill>
            </a:endParaRPr>
          </a:p>
        </p:txBody>
      </p:sp>
      <p:pic>
        <p:nvPicPr>
          <p:cNvPr id="469" name="Google Shape;469;p53"/>
          <p:cNvPicPr preferRelativeResize="0"/>
          <p:nvPr/>
        </p:nvPicPr>
        <p:blipFill rotWithShape="1">
          <a:blip r:embed="rId3">
            <a:alphaModFix/>
          </a:blip>
          <a:srcRect b="0" l="33375" r="35972" t="12350"/>
          <a:stretch/>
        </p:blipFill>
        <p:spPr>
          <a:xfrm>
            <a:off x="2829537" y="1147270"/>
            <a:ext cx="1921200" cy="81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3"/>
          <p:cNvPicPr preferRelativeResize="0"/>
          <p:nvPr/>
        </p:nvPicPr>
        <p:blipFill rotWithShape="1">
          <a:blip r:embed="rId3">
            <a:alphaModFix/>
          </a:blip>
          <a:srcRect b="0" l="66760" r="2587" t="12350"/>
          <a:stretch/>
        </p:blipFill>
        <p:spPr>
          <a:xfrm>
            <a:off x="4917387" y="1122863"/>
            <a:ext cx="1921200" cy="8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 rotWithShape="1">
          <a:blip r:embed="rId3">
            <a:alphaModFix/>
          </a:blip>
          <a:srcRect b="0" l="0" r="49680" t="0"/>
          <a:stretch/>
        </p:blipFill>
        <p:spPr>
          <a:xfrm>
            <a:off x="327104" y="442475"/>
            <a:ext cx="3778675" cy="39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4"/>
          <p:cNvSpPr txBox="1"/>
          <p:nvPr/>
        </p:nvSpPr>
        <p:spPr>
          <a:xfrm>
            <a:off x="4579525" y="778300"/>
            <a:ext cx="41397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AutoNum type="alphaLcParenR"/>
            </a:pPr>
            <a:r>
              <a:rPr lang="sv" sz="1800">
                <a:solidFill>
                  <a:srgbClr val="00447B"/>
                </a:solidFill>
              </a:rPr>
              <a:t>Fast kostnad 20 Tkr</a:t>
            </a:r>
            <a:endParaRPr sz="1800">
              <a:solidFill>
                <a:srgbClr val="00447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AutoNum type="alphaLcParenR"/>
            </a:pPr>
            <a:r>
              <a:rPr lang="sv" sz="1800">
                <a:solidFill>
                  <a:srgbClr val="00447B"/>
                </a:solidFill>
              </a:rPr>
              <a:t>800 enheter</a:t>
            </a:r>
            <a:endParaRPr sz="1800">
              <a:solidFill>
                <a:srgbClr val="00447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AutoNum type="alphaLcParenR"/>
            </a:pPr>
            <a:r>
              <a:rPr lang="sv" sz="1800">
                <a:solidFill>
                  <a:srgbClr val="00447B"/>
                </a:solidFill>
              </a:rPr>
              <a:t>Vinst 90000 - 80000 = 10000 kr</a:t>
            </a:r>
            <a:endParaRPr sz="1800">
              <a:solidFill>
                <a:srgbClr val="00447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AutoNum type="alphaLcParenR"/>
            </a:pPr>
            <a:r>
              <a:rPr lang="sv" sz="1800">
                <a:solidFill>
                  <a:srgbClr val="00447B"/>
                </a:solidFill>
              </a:rPr>
              <a:t>Förlust 30000 - 15000 = 15000 kr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55"/>
          <p:cNvPicPr preferRelativeResize="0"/>
          <p:nvPr/>
        </p:nvPicPr>
        <p:blipFill rotWithShape="1">
          <a:blip r:embed="rId3">
            <a:alphaModFix/>
          </a:blip>
          <a:srcRect b="17444" l="50169" r="0" t="0"/>
          <a:stretch/>
        </p:blipFill>
        <p:spPr>
          <a:xfrm>
            <a:off x="4410329" y="442475"/>
            <a:ext cx="4635925" cy="406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5"/>
          <p:cNvSpPr txBox="1"/>
          <p:nvPr/>
        </p:nvSpPr>
        <p:spPr>
          <a:xfrm>
            <a:off x="282000" y="778300"/>
            <a:ext cx="41283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a) I = 350x = 350*5 = 1750 kr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Smedens intäkt blir 1750 kr om 5 smycken säljs.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b) K = 2500 + 100*5 = 3000 kr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Smedens kostnad för att tillverka och sälja 5 smycken blir 3000 kr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c) 2500 - fast kostnad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    100 - rörlig kostnad per smycke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     350 - försäljningspris smycke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d) </a:t>
            </a:r>
            <a:r>
              <a:rPr b="1" lang="sv" sz="1800">
                <a:solidFill>
                  <a:srgbClr val="00447B"/>
                </a:solidFill>
              </a:rPr>
              <a:t>K </a:t>
            </a:r>
            <a:r>
              <a:rPr lang="sv" sz="1800">
                <a:solidFill>
                  <a:srgbClr val="00447B"/>
                </a:solidFill>
              </a:rPr>
              <a:t>= </a:t>
            </a:r>
            <a:r>
              <a:rPr b="1" lang="sv" sz="1800">
                <a:solidFill>
                  <a:srgbClr val="00447B"/>
                </a:solidFill>
              </a:rPr>
              <a:t>I</a:t>
            </a:r>
            <a:r>
              <a:rPr lang="sv" sz="1800">
                <a:solidFill>
                  <a:srgbClr val="00447B"/>
                </a:solidFill>
              </a:rPr>
              <a:t> (</a:t>
            </a:r>
            <a:r>
              <a:rPr b="1" lang="sv" sz="1800">
                <a:solidFill>
                  <a:srgbClr val="00447B"/>
                </a:solidFill>
              </a:rPr>
              <a:t>K</a:t>
            </a:r>
            <a:r>
              <a:rPr lang="sv" sz="1800">
                <a:solidFill>
                  <a:srgbClr val="00447B"/>
                </a:solidFill>
              </a:rPr>
              <a:t>ostnad lika med </a:t>
            </a:r>
            <a:r>
              <a:rPr b="1" lang="sv" sz="1800">
                <a:solidFill>
                  <a:srgbClr val="00447B"/>
                </a:solidFill>
              </a:rPr>
              <a:t>I</a:t>
            </a:r>
            <a:r>
              <a:rPr lang="sv" sz="1800">
                <a:solidFill>
                  <a:srgbClr val="00447B"/>
                </a:solidFill>
              </a:rPr>
              <a:t>ntäkt)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Fortsättning</a:t>
            </a:r>
            <a:endParaRPr/>
          </a:p>
        </p:txBody>
      </p:sp>
      <p:sp>
        <p:nvSpPr>
          <p:cNvPr id="488" name="Google Shape;488;p56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 = 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2500 + 100x = 350x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2500 = 250x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10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Svar: Smeden måste tillverka och sälja minst 11 smycken för att gå med vinst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"/>
          <p:cNvSpPr txBox="1"/>
          <p:nvPr>
            <p:ph idx="1" type="body"/>
          </p:nvPr>
        </p:nvSpPr>
        <p:spPr>
          <a:xfrm>
            <a:off x="356800" y="1127980"/>
            <a:ext cx="4121100" cy="22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a) 30 kr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b) 15 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c) 20 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d) 5 st</a:t>
            </a:r>
            <a:endParaRPr/>
          </a:p>
        </p:txBody>
      </p:sp>
      <p:pic>
        <p:nvPicPr>
          <p:cNvPr id="494" name="Google Shape;49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948" y="104750"/>
            <a:ext cx="4421200" cy="446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Utbud/efterfrågan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8"/>
          <p:cNvSpPr txBox="1"/>
          <p:nvPr>
            <p:ph idx="1" type="body"/>
          </p:nvPr>
        </p:nvSpPr>
        <p:spPr>
          <a:xfrm>
            <a:off x="311700" y="1152475"/>
            <a:ext cx="458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 Utbud: P = 0,65Q</a:t>
            </a:r>
            <a:br>
              <a:rPr lang="sv"/>
            </a:br>
            <a:r>
              <a:rPr lang="sv"/>
              <a:t>(ökar med pris)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        Efterfrågan: P = 54 - 0,85Q</a:t>
            </a:r>
            <a:br>
              <a:rPr lang="sv"/>
            </a:br>
            <a:r>
              <a:rPr lang="sv"/>
              <a:t>       </a:t>
            </a:r>
            <a:r>
              <a:rPr lang="sv"/>
              <a:t>(minskar med pris)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54 - 0,85*Q = 20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54 - 20 = 0,85Q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Q = 34/0,85 = 40 kg </a:t>
            </a:r>
            <a:endParaRPr/>
          </a:p>
        </p:txBody>
      </p:sp>
      <p:pic>
        <p:nvPicPr>
          <p:cNvPr id="502" name="Google Shape;50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5" y="1017725"/>
            <a:ext cx="4419599" cy="35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/>
          <p:nvPr>
            <p:ph idx="1" type="body"/>
          </p:nvPr>
        </p:nvSpPr>
        <p:spPr>
          <a:xfrm>
            <a:off x="423225" y="471300"/>
            <a:ext cx="3776700" cy="36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Lös ekvationssystemet algebraiskt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c)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P = 0,65Q          (1)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P = 54 - 0,85Q   (2)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0,65Q = 54 - 0,85Q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1,5Q = 54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Q = 36 kg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P = 36∙0,65 = 23,4 kr/kg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0"/>
          <p:cNvSpPr txBox="1"/>
          <p:nvPr>
            <p:ph idx="1" type="body"/>
          </p:nvPr>
        </p:nvSpPr>
        <p:spPr>
          <a:xfrm>
            <a:off x="311700" y="1152475"/>
            <a:ext cx="439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Testar också med geogebra. Samma svar!</a:t>
            </a:r>
            <a:endParaRPr/>
          </a:p>
        </p:txBody>
      </p:sp>
      <p:pic>
        <p:nvPicPr>
          <p:cNvPr id="514" name="Google Shape;51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500" y="949350"/>
            <a:ext cx="4021800" cy="352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1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Sidan 64-65 (Tema) uppgift 3, 4, 5 och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Sidan 66, 67 </a:t>
            </a:r>
            <a:r>
              <a:rPr lang="sv"/>
              <a:t> (Tema) uppgift 3, 4, 5 och 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G Whi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
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Raleway SemiBold"/>
      <p:regular r:id="rId35"/>
      <p:bold r:id="rId36"/>
      <p:italic r:id="rId37"/>
      <p:boldItalic r:id="rId38"/>
    </p:embeddedFont>
    <p:embeddedFont>
      <p:font typeface="Raleway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bold.fntdata"/><Relationship Id="rId20" Type="http://schemas.openxmlformats.org/officeDocument/2006/relationships/slide" Target="slides/slide15.xml"/><Relationship Id="rId42" Type="http://schemas.openxmlformats.org/officeDocument/2006/relationships/font" Target="fonts/Raleway-boldItalic.fntdata"/><Relationship Id="rId41" Type="http://schemas.openxmlformats.org/officeDocument/2006/relationships/font" Target="fonts/Raleway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alewaySemiBold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alewaySemiBold-italic.fntdata"/><Relationship Id="rId14" Type="http://schemas.openxmlformats.org/officeDocument/2006/relationships/slide" Target="slides/slide9.xml"/><Relationship Id="rId36" Type="http://schemas.openxmlformats.org/officeDocument/2006/relationships/font" Target="fonts/RalewaySemiBold-bold.fntdata"/><Relationship Id="rId17" Type="http://schemas.openxmlformats.org/officeDocument/2006/relationships/slide" Target="slides/slide12.xml"/><Relationship Id="rId39" Type="http://schemas.openxmlformats.org/officeDocument/2006/relationships/font" Target="fonts/Raleway-regular.fntdata"/><Relationship Id="rId16" Type="http://schemas.openxmlformats.org/officeDocument/2006/relationships/slide" Target="slides/slide11.xml"/><Relationship Id="rId38" Type="http://schemas.openxmlformats.org/officeDocument/2006/relationships/font" Target="fonts/RalewaySemiBol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5f44dbcc81486d7f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5f44dbcc81486d7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5f44dbcc81486d7f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5f44dbcc81486d7f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5f44dbcc81486d7f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5f44dbcc81486d7f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5f44dbcc81486d7f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5f44dbcc81486d7f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5f44dbcc81486d7f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5f44dbcc81486d7f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60151daab6b167c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h60151daab6b167c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5f44dbcc81486d7f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5f44dbcc81486d7f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5f44dbcc81486d7f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h5f44dbcc81486d7f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5f44dbcc81486d7f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h5f44dbcc81486d7f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5f44dbcc81486d7f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h5f44dbcc81486d7f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5f44dbcc81486d7f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h5f44dbcc81486d7f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5f44dbcc81486d7f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h5f44dbcc81486d7f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5f44dbcc81486d7f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h5f44dbcc81486d7f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5f44dbcc81486d7f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h5f44dbcc81486d7f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h5f44dbcc81486d7f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h5f44dbcc81486d7f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h5f44dbcc81486d7f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h5f44dbcc81486d7f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5f44dbcc81486d7f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h5f44dbcc81486d7f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h5f44dbcc81486d7f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h5f44dbcc81486d7f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h5f44dbcc81486d7f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h5f44dbcc81486d7f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5f44dbcc81486d7f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h5f44dbcc81486d7f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5f44dbcc81486d7f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h5f44dbcc81486d7f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h5f44dbcc81486d7f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h5f44dbcc81486d7f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h5f44dbcc81486d7f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h5f44dbcc81486d7f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h5f44dbcc81486d7f_1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h5f44dbcc81486d7f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5f44dbcc81486d7f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5f44dbcc81486d7f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5f44dbcc81486d7f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h5f44dbcc81486d7f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h5f44dbcc81486d7f_1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h5f44dbcc81486d7f_1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5f44dbcc81486d7f_1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h5f44dbcc81486d7f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02650" y="250900"/>
            <a:ext cx="5229600" cy="3423300"/>
          </a:xfrm>
          <a:prstGeom prst="rect">
            <a:avLst/>
          </a:prstGeom>
          <a:effectLst>
            <a:outerShdw blurRad="57150" rotWithShape="0" algn="bl" dir="5400000" dist="1905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>
                <a:solidFill>
                  <a:srgbClr val="00447B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02650" y="3811600"/>
            <a:ext cx="4260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0062A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3602650" y="3674200"/>
            <a:ext cx="1606800" cy="1374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209450" y="3674200"/>
            <a:ext cx="1606800" cy="1374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6816250" y="3674200"/>
            <a:ext cx="1580100" cy="1374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27704" l="0" r="0" t="0"/>
          <a:stretch/>
        </p:blipFill>
        <p:spPr>
          <a:xfrm>
            <a:off x="761875" y="1331901"/>
            <a:ext cx="2840775" cy="2622099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700000" dist="76200">
              <a:srgbClr val="00447B">
                <a:alpha val="82000"/>
              </a:srgb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ubrik för avsnitt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b="1" sz="3600"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20" name="Google Shape;20;p3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62A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27" name="Google Shape;27;p4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39" name="Google Shape;3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6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7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7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54" name="Google Shape;5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447B"/>
              </a:buClr>
              <a:buSzPts val="4800"/>
              <a:buNone/>
              <a:defRPr sz="4800">
                <a:solidFill>
                  <a:srgbClr val="0044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7" name="Google Shape;57;p8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8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8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5" name="Google Shape;6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9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4" name="Google Shape;74;p10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0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0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78" name="Google Shape;7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83" name="Google Shape;8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1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1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1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2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A7"/>
              </a:buClr>
              <a:buSzPts val="2800"/>
              <a:buFont typeface="Raleway SemiBold"/>
              <a:buNone/>
              <a:defRPr sz="2800">
                <a:solidFill>
                  <a:srgbClr val="0062A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47B"/>
              </a:buClr>
              <a:buSzPts val="1800"/>
              <a:buChar char="●"/>
              <a:defRPr sz="1800">
                <a:solidFill>
                  <a:srgbClr val="00447B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○"/>
              <a:defRPr>
                <a:solidFill>
                  <a:srgbClr val="00447B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■"/>
              <a:defRPr>
                <a:solidFill>
                  <a:srgbClr val="00447B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●"/>
              <a:defRPr>
                <a:solidFill>
                  <a:srgbClr val="00447B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○"/>
              <a:defRPr>
                <a:solidFill>
                  <a:srgbClr val="00447B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■"/>
              <a:defRPr>
                <a:solidFill>
                  <a:srgbClr val="00447B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●"/>
              <a:defRPr>
                <a:solidFill>
                  <a:srgbClr val="00447B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○"/>
              <a:defRPr>
                <a:solidFill>
                  <a:srgbClr val="00447B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447B"/>
              </a:buClr>
              <a:buSzPts val="1400"/>
              <a:buChar char="■"/>
              <a:defRPr>
                <a:solidFill>
                  <a:srgbClr val="00447B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hyperlink" Target="https://www.geogebra.org/calculator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>
            <p:ph type="ctrTitle"/>
          </p:nvPr>
        </p:nvSpPr>
        <p:spPr>
          <a:xfrm>
            <a:off x="3602650" y="250900"/>
            <a:ext cx="5229600" cy="34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Matematik 2B</a:t>
            </a:r>
            <a:endParaRPr/>
          </a:p>
        </p:txBody>
      </p:sp>
      <p:sp>
        <p:nvSpPr>
          <p:cNvPr id="98" name="Google Shape;98;p13"/>
          <p:cNvSpPr txBox="1"/>
          <p:nvPr>
            <p:ph idx="1" type="subTitle"/>
          </p:nvPr>
        </p:nvSpPr>
        <p:spPr>
          <a:xfrm>
            <a:off x="3602650" y="3811600"/>
            <a:ext cx="5229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Kapitel 1.4 </a:t>
            </a:r>
            <a:r>
              <a:rPr lang="sv"/>
              <a:t>Uttryck och parenteser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Repetition - parentesmultiplikation </a:t>
            </a:r>
            <a:endParaRPr/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50000" t="0"/>
          <a:stretch/>
        </p:blipFill>
        <p:spPr>
          <a:xfrm>
            <a:off x="981075" y="1169332"/>
            <a:ext cx="359092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 rotWithShape="1">
          <a:blip r:embed="rId3">
            <a:alphaModFix/>
          </a:blip>
          <a:srcRect b="0" l="50000" r="0" t="0"/>
          <a:stretch/>
        </p:blipFill>
        <p:spPr>
          <a:xfrm>
            <a:off x="4746975" y="1169319"/>
            <a:ext cx="359092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4436" y="3618999"/>
            <a:ext cx="234315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32637" y="3822025"/>
            <a:ext cx="4419600" cy="952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 b="3587" l="0" r="48846" t="0"/>
          <a:stretch/>
        </p:blipFill>
        <p:spPr>
          <a:xfrm>
            <a:off x="406825" y="772125"/>
            <a:ext cx="3416976" cy="22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 rotWithShape="1">
          <a:blip r:embed="rId3">
            <a:alphaModFix/>
          </a:blip>
          <a:srcRect b="3587" l="49915" r="0" t="0"/>
          <a:stretch/>
        </p:blipFill>
        <p:spPr>
          <a:xfrm>
            <a:off x="4371900" y="772125"/>
            <a:ext cx="3345601" cy="22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/>
          <p:cNvPicPr preferRelativeResize="0"/>
          <p:nvPr/>
        </p:nvPicPr>
        <p:blipFill rotWithShape="1">
          <a:blip r:embed="rId4">
            <a:alphaModFix/>
          </a:blip>
          <a:srcRect b="9395" l="0" r="0" t="7755"/>
          <a:stretch/>
        </p:blipFill>
        <p:spPr>
          <a:xfrm>
            <a:off x="2295525" y="2986862"/>
            <a:ext cx="4111300" cy="71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0204" y="3640375"/>
            <a:ext cx="6987296" cy="132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title"/>
          </p:nvPr>
        </p:nvSpPr>
        <p:spPr>
          <a:xfrm>
            <a:off x="311700" y="348206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Forts. - parentesmultiplikation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body"/>
          </p:nvPr>
        </p:nvSpPr>
        <p:spPr>
          <a:xfrm>
            <a:off x="311700" y="1331000"/>
            <a:ext cx="8350500" cy="32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/>
              <a:t>a) x(x + 3) - 3(x + 2) = x</a:t>
            </a:r>
            <a:r>
              <a:rPr b="1" baseline="30000" lang="sv"/>
              <a:t>2 </a:t>
            </a:r>
            <a:r>
              <a:rPr b="1" lang="sv"/>
              <a:t>+ 3x - 3x - 6 = x</a:t>
            </a:r>
            <a:r>
              <a:rPr b="1" baseline="30000" lang="sv"/>
              <a:t>2</a:t>
            </a:r>
            <a:r>
              <a:rPr b="1" lang="sv"/>
              <a:t> - 6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sv"/>
              <a:t>b) (x - 2)(2x + 5) = 2x</a:t>
            </a:r>
            <a:r>
              <a:rPr b="1" baseline="30000" lang="sv"/>
              <a:t>2</a:t>
            </a:r>
            <a:r>
              <a:rPr b="1" lang="sv"/>
              <a:t> + 5x - 4x - 10 = 2x</a:t>
            </a:r>
            <a:r>
              <a:rPr b="1" baseline="30000" lang="sv"/>
              <a:t>2</a:t>
            </a:r>
            <a:r>
              <a:rPr b="1" lang="sv"/>
              <a:t> + x - 10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sv"/>
              <a:t>c) (x - 3)(2x - 4) = 2x</a:t>
            </a:r>
            <a:r>
              <a:rPr b="1" baseline="30000" lang="sv"/>
              <a:t>2</a:t>
            </a:r>
            <a:r>
              <a:rPr b="1" lang="sv"/>
              <a:t> - 4x - 6x + 12 = 2x</a:t>
            </a:r>
            <a:r>
              <a:rPr b="1" baseline="30000" lang="sv"/>
              <a:t>2</a:t>
            </a:r>
            <a:r>
              <a:rPr b="1" lang="sv"/>
              <a:t> - 10x + 12</a:t>
            </a:r>
            <a:r>
              <a:rPr lang="sv"/>
              <a:t>   </a:t>
            </a:r>
            <a:endParaRPr/>
          </a:p>
        </p:txBody>
      </p:sp>
      <p:pic>
        <p:nvPicPr>
          <p:cNvPr id="122" name="Google Shape;12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153" y="332874"/>
            <a:ext cx="8319773" cy="8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/>
              <a:t>(x - 1)(2x + 4) = x(2x + 1)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sv"/>
              <a:t>2x</a:t>
            </a:r>
            <a:r>
              <a:rPr b="1" baseline="30000" lang="sv"/>
              <a:t>2</a:t>
            </a:r>
            <a:r>
              <a:rPr b="1" lang="sv"/>
              <a:t> + 4x - 2x - 4 = 2x</a:t>
            </a:r>
            <a:r>
              <a:rPr b="1" baseline="30000" lang="sv"/>
              <a:t>2</a:t>
            </a:r>
            <a:r>
              <a:rPr b="1" lang="sv"/>
              <a:t> + x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sv"/>
              <a:t>2x</a:t>
            </a:r>
            <a:r>
              <a:rPr b="1" baseline="30000" lang="sv"/>
              <a:t>2</a:t>
            </a:r>
            <a:r>
              <a:rPr b="1" lang="sv"/>
              <a:t> + 2x  - 4 = 2x</a:t>
            </a:r>
            <a:r>
              <a:rPr b="1" baseline="30000" lang="sv"/>
              <a:t>2</a:t>
            </a:r>
            <a:r>
              <a:rPr b="1" lang="sv"/>
              <a:t> + x       | -2x</a:t>
            </a:r>
            <a:r>
              <a:rPr b="1" baseline="30000" lang="sv"/>
              <a:t>2</a:t>
            </a:r>
            <a:r>
              <a:rPr b="1" lang="sv"/>
              <a:t> båda sidor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sv"/>
              <a:t>2x  - 4 = x                         |  -x båda sidor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sv"/>
              <a:t>x  - 4 = 0                           |  +4 båda sidor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sv"/>
              <a:t>x = 4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11825"/>
            <a:ext cx="641985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18"/>
          <p:cNvPicPr preferRelativeResize="0"/>
          <p:nvPr/>
        </p:nvPicPr>
        <p:blipFill rotWithShape="1">
          <a:blip r:embed="rId3">
            <a:alphaModFix/>
          </a:blip>
          <a:srcRect b="46063" l="0" r="0" t="0"/>
          <a:stretch/>
        </p:blipFill>
        <p:spPr>
          <a:xfrm>
            <a:off x="0" y="282375"/>
            <a:ext cx="5867400" cy="240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/>
          <p:cNvPicPr preferRelativeResize="0"/>
          <p:nvPr/>
        </p:nvPicPr>
        <p:blipFill rotWithShape="1">
          <a:blip r:embed="rId3">
            <a:alphaModFix/>
          </a:blip>
          <a:srcRect b="19615" l="16832" r="25660" t="53778"/>
          <a:stretch/>
        </p:blipFill>
        <p:spPr>
          <a:xfrm>
            <a:off x="4126900" y="739350"/>
            <a:ext cx="3374149" cy="11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/>
          <p:cNvPicPr preferRelativeResize="0"/>
          <p:nvPr/>
        </p:nvPicPr>
        <p:blipFill rotWithShape="1">
          <a:blip r:embed="rId3">
            <a:alphaModFix/>
          </a:blip>
          <a:srcRect b="10401" l="0" r="39810" t="80223"/>
          <a:stretch/>
        </p:blipFill>
        <p:spPr>
          <a:xfrm>
            <a:off x="3110150" y="1900625"/>
            <a:ext cx="3531650" cy="41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0" y="2682421"/>
            <a:ext cx="42720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Arean kvadrat:  A</a:t>
            </a:r>
            <a:r>
              <a:rPr baseline="-25000" lang="sv" sz="1800">
                <a:solidFill>
                  <a:srgbClr val="00447B"/>
                </a:solidFill>
              </a:rPr>
              <a:t>kvadrat</a:t>
            </a:r>
            <a:r>
              <a:rPr lang="sv" sz="1800">
                <a:solidFill>
                  <a:srgbClr val="00447B"/>
                </a:solidFill>
              </a:rPr>
              <a:t> = x</a:t>
            </a:r>
            <a:r>
              <a:rPr baseline="30000" lang="sv" sz="1800">
                <a:solidFill>
                  <a:srgbClr val="00447B"/>
                </a:solidFill>
              </a:rPr>
              <a:t>2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Arean rektangel:  A</a:t>
            </a:r>
            <a:r>
              <a:rPr baseline="-25000" lang="sv" sz="1800">
                <a:solidFill>
                  <a:srgbClr val="00447B"/>
                </a:solidFill>
              </a:rPr>
              <a:t>rektangel</a:t>
            </a:r>
            <a:r>
              <a:rPr lang="sv" sz="1800">
                <a:solidFill>
                  <a:srgbClr val="00447B"/>
                </a:solidFill>
              </a:rPr>
              <a:t>= (x + 4)(x - 2)</a:t>
            </a:r>
            <a:endParaRPr sz="1800">
              <a:solidFill>
                <a:srgbClr val="00447B"/>
              </a:solidFill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4379775" y="2494425"/>
            <a:ext cx="4272000" cy="24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Areorna är lika stora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x</a:t>
            </a:r>
            <a:r>
              <a:rPr baseline="30000" lang="sv" sz="1800">
                <a:solidFill>
                  <a:srgbClr val="00447B"/>
                </a:solidFill>
              </a:rPr>
              <a:t>2</a:t>
            </a:r>
            <a:r>
              <a:rPr lang="sv" sz="1800">
                <a:solidFill>
                  <a:srgbClr val="00447B"/>
                </a:solidFill>
              </a:rPr>
              <a:t> </a:t>
            </a:r>
            <a:r>
              <a:rPr lang="sv" sz="1800">
                <a:solidFill>
                  <a:srgbClr val="00447B"/>
                </a:solidFill>
              </a:rPr>
              <a:t>= (x + 4)(x - 2)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x</a:t>
            </a:r>
            <a:r>
              <a:rPr baseline="30000" lang="sv" sz="1800">
                <a:solidFill>
                  <a:srgbClr val="00447B"/>
                </a:solidFill>
              </a:rPr>
              <a:t>2</a:t>
            </a:r>
            <a:r>
              <a:rPr lang="sv" sz="1800">
                <a:solidFill>
                  <a:srgbClr val="00447B"/>
                </a:solidFill>
              </a:rPr>
              <a:t> = x</a:t>
            </a:r>
            <a:r>
              <a:rPr baseline="30000" lang="sv" sz="1800">
                <a:solidFill>
                  <a:srgbClr val="00447B"/>
                </a:solidFill>
              </a:rPr>
              <a:t>2</a:t>
            </a:r>
            <a:r>
              <a:rPr lang="sv" sz="1800">
                <a:solidFill>
                  <a:srgbClr val="00447B"/>
                </a:solidFill>
              </a:rPr>
              <a:t> - 2x + 4x - 8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x</a:t>
            </a:r>
            <a:r>
              <a:rPr baseline="30000" lang="sv" sz="1800">
                <a:solidFill>
                  <a:srgbClr val="00447B"/>
                </a:solidFill>
              </a:rPr>
              <a:t>2</a:t>
            </a:r>
            <a:r>
              <a:rPr lang="sv" sz="1800">
                <a:solidFill>
                  <a:srgbClr val="00447B"/>
                </a:solidFill>
              </a:rPr>
              <a:t> = x</a:t>
            </a:r>
            <a:r>
              <a:rPr baseline="30000" lang="sv" sz="1800">
                <a:solidFill>
                  <a:srgbClr val="00447B"/>
                </a:solidFill>
              </a:rPr>
              <a:t>2</a:t>
            </a:r>
            <a:r>
              <a:rPr lang="sv" sz="1800">
                <a:solidFill>
                  <a:srgbClr val="00447B"/>
                </a:solidFill>
              </a:rPr>
              <a:t> + 2x - 8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0 = 2x - 8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2x = 8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x = 4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Svar: 4 m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5039150" cy="10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Räkna uppgifter så det sitter ordentligt</a:t>
            </a:r>
            <a:endParaRPr/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 sz="2000"/>
              <a:t>Uppgifter finns på sidan 70. Räkna dessa please.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Konjugatregeln</a:t>
            </a:r>
            <a:endParaRPr/>
          </a:p>
        </p:txBody>
      </p: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311700" y="2639425"/>
            <a:ext cx="8350500" cy="15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Algebraisk “shortcut” för att snabbt beräkna: (a + b)(a - b)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Varför blir (a + b)(a - b) = a</a:t>
            </a:r>
            <a:r>
              <a:rPr baseline="30000" lang="sv"/>
              <a:t>2</a:t>
            </a:r>
            <a:r>
              <a:rPr lang="sv"/>
              <a:t> - b</a:t>
            </a:r>
            <a:r>
              <a:rPr baseline="30000" lang="sv"/>
              <a:t>2</a:t>
            </a:r>
            <a:r>
              <a:rPr lang="sv"/>
              <a:t> 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Test: (a + b)(a - b) = </a:t>
            </a:r>
            <a:endParaRPr/>
          </a:p>
        </p:txBody>
      </p:sp>
      <p:pic>
        <p:nvPicPr>
          <p:cNvPr id="158" name="Google Shape;15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67020"/>
            <a:ext cx="565785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2435376" y="3642275"/>
            <a:ext cx="48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a</a:t>
            </a:r>
            <a:r>
              <a:rPr baseline="30000" lang="sv"/>
              <a:t>2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 txBox="1"/>
          <p:nvPr>
            <p:ph idx="1" type="body"/>
          </p:nvPr>
        </p:nvSpPr>
        <p:spPr>
          <a:xfrm>
            <a:off x="3200694" y="3642275"/>
            <a:ext cx="87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+ ba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1"/>
          <p:cNvSpPr txBox="1"/>
          <p:nvPr>
            <p:ph idx="1" type="body"/>
          </p:nvPr>
        </p:nvSpPr>
        <p:spPr>
          <a:xfrm>
            <a:off x="2736851" y="3642275"/>
            <a:ext cx="64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- </a:t>
            </a:r>
            <a:r>
              <a:rPr lang="sv"/>
              <a:t>ab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1"/>
          <p:cNvSpPr txBox="1"/>
          <p:nvPr>
            <p:ph idx="1" type="body"/>
          </p:nvPr>
        </p:nvSpPr>
        <p:spPr>
          <a:xfrm>
            <a:off x="3734079" y="3635192"/>
            <a:ext cx="642300" cy="4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- b</a:t>
            </a:r>
            <a:r>
              <a:rPr baseline="30000" lang="sv"/>
              <a:t>2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1"/>
          <p:cNvSpPr txBox="1"/>
          <p:nvPr>
            <p:ph idx="1" type="body"/>
          </p:nvPr>
        </p:nvSpPr>
        <p:spPr>
          <a:xfrm>
            <a:off x="4157982" y="3627450"/>
            <a:ext cx="1359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= a</a:t>
            </a:r>
            <a:r>
              <a:rPr baseline="30000" lang="sv"/>
              <a:t>2</a:t>
            </a:r>
            <a:r>
              <a:rPr lang="sv"/>
              <a:t> - b</a:t>
            </a:r>
            <a:r>
              <a:rPr baseline="30000" lang="sv"/>
              <a:t>2</a:t>
            </a:r>
            <a:endParaRPr baseline="30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 txBox="1"/>
          <p:nvPr>
            <p:ph idx="1" type="body"/>
          </p:nvPr>
        </p:nvSpPr>
        <p:spPr>
          <a:xfrm>
            <a:off x="311700" y="1621350"/>
            <a:ext cx="1961400" cy="5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a) (x + 3)(x - 3) =</a:t>
            </a:r>
            <a:endParaRPr/>
          </a:p>
        </p:txBody>
      </p:sp>
      <p:pic>
        <p:nvPicPr>
          <p:cNvPr id="170" name="Google Shape;170;p22"/>
          <p:cNvPicPr preferRelativeResize="0"/>
          <p:nvPr/>
        </p:nvPicPr>
        <p:blipFill rotWithShape="1">
          <a:blip r:embed="rId3">
            <a:alphaModFix/>
          </a:blip>
          <a:srcRect b="67789" l="0" r="0" t="0"/>
          <a:stretch/>
        </p:blipFill>
        <p:spPr>
          <a:xfrm>
            <a:off x="2850600" y="275831"/>
            <a:ext cx="5981700" cy="142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2"/>
          <p:cNvPicPr preferRelativeResize="0"/>
          <p:nvPr/>
        </p:nvPicPr>
        <p:blipFill rotWithShape="1">
          <a:blip r:embed="rId4">
            <a:alphaModFix/>
          </a:blip>
          <a:srcRect b="0" l="35359" r="0" t="0"/>
          <a:stretch/>
        </p:blipFill>
        <p:spPr>
          <a:xfrm>
            <a:off x="4273675" y="1621350"/>
            <a:ext cx="3657225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2"/>
          <p:cNvSpPr txBox="1"/>
          <p:nvPr>
            <p:ph idx="1" type="body"/>
          </p:nvPr>
        </p:nvSpPr>
        <p:spPr>
          <a:xfrm>
            <a:off x="311700" y="2224650"/>
            <a:ext cx="196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b) (x + 5)(x - 5) =  </a:t>
            </a:r>
            <a:endParaRPr/>
          </a:p>
        </p:txBody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2152076" y="1607502"/>
            <a:ext cx="40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x</a:t>
            </a:r>
            <a:r>
              <a:rPr baseline="30000" lang="sv"/>
              <a:t>2</a:t>
            </a:r>
            <a:r>
              <a:rPr lang="sv"/>
              <a:t>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 </a:t>
            </a:r>
            <a:endParaRPr/>
          </a:p>
        </p:txBody>
      </p:sp>
      <p:sp>
        <p:nvSpPr>
          <p:cNvPr id="174" name="Google Shape;174;p22"/>
          <p:cNvSpPr txBox="1"/>
          <p:nvPr>
            <p:ph idx="1" type="body"/>
          </p:nvPr>
        </p:nvSpPr>
        <p:spPr>
          <a:xfrm>
            <a:off x="2438451" y="1607502"/>
            <a:ext cx="26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-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 </a:t>
            </a:r>
            <a:endParaRPr/>
          </a:p>
        </p:txBody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2642238" y="1619605"/>
            <a:ext cx="40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9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 </a:t>
            </a:r>
            <a:endParaRPr/>
          </a:p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2138824" y="2207163"/>
            <a:ext cx="40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x</a:t>
            </a:r>
            <a:r>
              <a:rPr baseline="30000" lang="sv"/>
              <a:t>2</a:t>
            </a:r>
            <a:r>
              <a:rPr lang="sv"/>
              <a:t>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 </a:t>
            </a:r>
            <a:endParaRPr/>
          </a:p>
        </p:txBody>
      </p:sp>
      <p:sp>
        <p:nvSpPr>
          <p:cNvPr id="177" name="Google Shape;177;p22"/>
          <p:cNvSpPr txBox="1"/>
          <p:nvPr>
            <p:ph idx="1" type="body"/>
          </p:nvPr>
        </p:nvSpPr>
        <p:spPr>
          <a:xfrm>
            <a:off x="2628967" y="2202709"/>
            <a:ext cx="6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25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 </a:t>
            </a:r>
            <a:endParaRPr/>
          </a:p>
        </p:txBody>
      </p:sp>
      <p:sp>
        <p:nvSpPr>
          <p:cNvPr id="178" name="Google Shape;178;p22"/>
          <p:cNvSpPr txBox="1"/>
          <p:nvPr>
            <p:ph idx="1" type="body"/>
          </p:nvPr>
        </p:nvSpPr>
        <p:spPr>
          <a:xfrm>
            <a:off x="2458330" y="2190598"/>
            <a:ext cx="26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-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 </a:t>
            </a:r>
            <a:endParaRPr/>
          </a:p>
        </p:txBody>
      </p:sp>
      <p:sp>
        <p:nvSpPr>
          <p:cNvPr id="179" name="Google Shape;179;p22"/>
          <p:cNvSpPr txBox="1"/>
          <p:nvPr>
            <p:ph idx="1" type="body"/>
          </p:nvPr>
        </p:nvSpPr>
        <p:spPr>
          <a:xfrm>
            <a:off x="331578" y="2758050"/>
            <a:ext cx="196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c) (9 - y)(9 + y) =  </a:t>
            </a:r>
            <a:endParaRPr/>
          </a:p>
        </p:txBody>
      </p:sp>
      <p:sp>
        <p:nvSpPr>
          <p:cNvPr id="180" name="Google Shape;180;p22"/>
          <p:cNvSpPr txBox="1"/>
          <p:nvPr>
            <p:ph idx="1" type="body"/>
          </p:nvPr>
        </p:nvSpPr>
        <p:spPr>
          <a:xfrm>
            <a:off x="2158700" y="2740575"/>
            <a:ext cx="5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81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 </a:t>
            </a:r>
            <a:endParaRPr/>
          </a:p>
        </p:txBody>
      </p:sp>
      <p:sp>
        <p:nvSpPr>
          <p:cNvPr id="181" name="Google Shape;181;p22"/>
          <p:cNvSpPr txBox="1"/>
          <p:nvPr>
            <p:ph idx="1" type="body"/>
          </p:nvPr>
        </p:nvSpPr>
        <p:spPr>
          <a:xfrm>
            <a:off x="2648846" y="2736109"/>
            <a:ext cx="6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y</a:t>
            </a:r>
            <a:r>
              <a:rPr baseline="30000" lang="sv"/>
              <a:t>2</a:t>
            </a:r>
            <a:r>
              <a:rPr lang="sv"/>
              <a:t>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 </a:t>
            </a:r>
            <a:endParaRPr/>
          </a:p>
        </p:txBody>
      </p:sp>
      <p:sp>
        <p:nvSpPr>
          <p:cNvPr id="182" name="Google Shape;182;p22"/>
          <p:cNvSpPr txBox="1"/>
          <p:nvPr>
            <p:ph idx="1" type="body"/>
          </p:nvPr>
        </p:nvSpPr>
        <p:spPr>
          <a:xfrm>
            <a:off x="2478208" y="2723998"/>
            <a:ext cx="26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-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 </a:t>
            </a:r>
            <a:endParaRPr/>
          </a:p>
        </p:txBody>
      </p:sp>
      <p:sp>
        <p:nvSpPr>
          <p:cNvPr id="183" name="Google Shape;183;p22"/>
          <p:cNvSpPr txBox="1"/>
          <p:nvPr>
            <p:ph idx="1" type="body"/>
          </p:nvPr>
        </p:nvSpPr>
        <p:spPr>
          <a:xfrm>
            <a:off x="351450" y="3357700"/>
            <a:ext cx="220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d) (2x - 3)(2x + 3) =  </a:t>
            </a:r>
            <a:endParaRPr/>
          </a:p>
        </p:txBody>
      </p:sp>
      <p:sp>
        <p:nvSpPr>
          <p:cNvPr id="184" name="Google Shape;184;p22"/>
          <p:cNvSpPr txBox="1"/>
          <p:nvPr>
            <p:ph idx="1" type="body"/>
          </p:nvPr>
        </p:nvSpPr>
        <p:spPr>
          <a:xfrm>
            <a:off x="2443622" y="3340236"/>
            <a:ext cx="5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4x</a:t>
            </a:r>
            <a:r>
              <a:rPr baseline="30000" lang="sv"/>
              <a:t>2</a:t>
            </a:r>
            <a:r>
              <a:rPr lang="sv"/>
              <a:t>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 </a:t>
            </a:r>
            <a:endParaRPr/>
          </a:p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3033159" y="3335770"/>
            <a:ext cx="6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9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 </a:t>
            </a:r>
            <a:endParaRPr/>
          </a:p>
        </p:txBody>
      </p:sp>
      <p:sp>
        <p:nvSpPr>
          <p:cNvPr id="186" name="Google Shape;186;p22"/>
          <p:cNvSpPr txBox="1"/>
          <p:nvPr>
            <p:ph idx="1" type="body"/>
          </p:nvPr>
        </p:nvSpPr>
        <p:spPr>
          <a:xfrm>
            <a:off x="2845956" y="3323659"/>
            <a:ext cx="26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-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Kvadreringsreglerna</a:t>
            </a:r>
            <a:endParaRPr/>
          </a:p>
        </p:txBody>
      </p:sp>
      <p:sp>
        <p:nvSpPr>
          <p:cNvPr id="192" name="Google Shape;192;p23"/>
          <p:cNvSpPr txBox="1"/>
          <p:nvPr>
            <p:ph idx="1" type="body"/>
          </p:nvPr>
        </p:nvSpPr>
        <p:spPr>
          <a:xfrm>
            <a:off x="311700" y="2658925"/>
            <a:ext cx="8350500" cy="16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Algebraisk “shortcut” för att snabbt beräkna: (a + b)</a:t>
            </a:r>
            <a:r>
              <a:rPr baseline="30000" lang="sv"/>
              <a:t>2</a:t>
            </a:r>
            <a:r>
              <a:rPr lang="sv"/>
              <a:t> och (a - b)</a:t>
            </a:r>
            <a:r>
              <a:rPr baseline="30000" lang="sv"/>
              <a:t>2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Varför blir (a + b)</a:t>
            </a:r>
            <a:r>
              <a:rPr baseline="30000" lang="sv"/>
              <a:t>2</a:t>
            </a:r>
            <a:r>
              <a:rPr lang="sv"/>
              <a:t> = a</a:t>
            </a:r>
            <a:r>
              <a:rPr baseline="30000" lang="sv"/>
              <a:t>2</a:t>
            </a:r>
            <a:r>
              <a:rPr lang="sv"/>
              <a:t> + 2ab + b</a:t>
            </a:r>
            <a:r>
              <a:rPr baseline="30000" lang="sv"/>
              <a:t>2</a:t>
            </a:r>
            <a:r>
              <a:rPr lang="sv"/>
              <a:t> 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Test: (a + b)(a + b) =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id="193" name="Google Shape;19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045" y="1104900"/>
            <a:ext cx="567690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3"/>
          <p:cNvSpPr txBox="1"/>
          <p:nvPr/>
        </p:nvSpPr>
        <p:spPr>
          <a:xfrm>
            <a:off x="2575775" y="3688200"/>
            <a:ext cx="40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 sz="1800">
                <a:solidFill>
                  <a:srgbClr val="00447B"/>
                </a:solidFill>
              </a:rPr>
              <a:t>a</a:t>
            </a:r>
            <a:r>
              <a:rPr baseline="30000" lang="sv" sz="1800">
                <a:solidFill>
                  <a:srgbClr val="00447B"/>
                </a:solidFill>
              </a:rPr>
              <a:t>2</a:t>
            </a:r>
            <a:r>
              <a:rPr lang="sv" sz="1800">
                <a:solidFill>
                  <a:srgbClr val="00447B"/>
                </a:solidFill>
              </a:rPr>
              <a:t> </a:t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2930325" y="3697250"/>
            <a:ext cx="67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+ ab</a:t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3494664" y="3710188"/>
            <a:ext cx="79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+ ba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4055903" y="3717550"/>
            <a:ext cx="93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+ </a:t>
            </a:r>
            <a:r>
              <a:rPr lang="sv" sz="1800">
                <a:solidFill>
                  <a:srgbClr val="00447B"/>
                </a:solidFill>
              </a:rPr>
              <a:t>b</a:t>
            </a:r>
            <a:r>
              <a:rPr baseline="30000" lang="sv" sz="1800">
                <a:solidFill>
                  <a:srgbClr val="00447B"/>
                </a:solidFill>
              </a:rPr>
              <a:t>2</a:t>
            </a:r>
            <a:r>
              <a:rPr lang="sv" sz="1800">
                <a:solidFill>
                  <a:srgbClr val="00447B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4808063" y="3690863"/>
            <a:ext cx="40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 sz="1800">
                <a:solidFill>
                  <a:srgbClr val="00447B"/>
                </a:solidFill>
              </a:rPr>
              <a:t>a</a:t>
            </a:r>
            <a:r>
              <a:rPr baseline="30000" lang="sv" sz="1800">
                <a:solidFill>
                  <a:srgbClr val="00447B"/>
                </a:solidFill>
              </a:rPr>
              <a:t>2</a:t>
            </a:r>
            <a:r>
              <a:rPr lang="sv" sz="1800">
                <a:solidFill>
                  <a:srgbClr val="00447B"/>
                </a:solidFill>
              </a:rPr>
              <a:t> 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5063235" y="3699913"/>
            <a:ext cx="93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+ 2ab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5741538" y="3703647"/>
            <a:ext cx="93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+ b</a:t>
            </a:r>
            <a:r>
              <a:rPr baseline="30000" lang="sv" sz="1800">
                <a:solidFill>
                  <a:srgbClr val="00447B"/>
                </a:solidFill>
              </a:rPr>
              <a:t>2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4"/>
          <p:cNvSpPr txBox="1"/>
          <p:nvPr>
            <p:ph idx="1" type="body"/>
          </p:nvPr>
        </p:nvSpPr>
        <p:spPr>
          <a:xfrm>
            <a:off x="311700" y="2064175"/>
            <a:ext cx="146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a). (a + 5)</a:t>
            </a:r>
            <a:r>
              <a:rPr baseline="30000" lang="sv"/>
              <a:t>2</a:t>
            </a:r>
            <a:r>
              <a:rPr lang="sv"/>
              <a:t> = </a:t>
            </a:r>
            <a:r>
              <a:rPr lang="sv"/>
              <a:t> </a:t>
            </a:r>
            <a:endParaRPr/>
          </a:p>
        </p:txBody>
      </p:sp>
      <p:pic>
        <p:nvPicPr>
          <p:cNvPr id="207" name="Google Shape;207;p24"/>
          <p:cNvPicPr preferRelativeResize="0"/>
          <p:nvPr/>
        </p:nvPicPr>
        <p:blipFill rotWithShape="1">
          <a:blip r:embed="rId3">
            <a:alphaModFix/>
          </a:blip>
          <a:srcRect b="37802" l="0" r="0" t="32465"/>
          <a:stretch/>
        </p:blipFill>
        <p:spPr>
          <a:xfrm>
            <a:off x="2850600" y="445025"/>
            <a:ext cx="5981700" cy="131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4"/>
          <p:cNvPicPr preferRelativeResize="0"/>
          <p:nvPr/>
        </p:nvPicPr>
        <p:blipFill rotWithShape="1">
          <a:blip r:embed="rId4">
            <a:alphaModFix/>
          </a:blip>
          <a:srcRect b="0" l="30662" r="2332" t="0"/>
          <a:stretch/>
        </p:blipFill>
        <p:spPr>
          <a:xfrm>
            <a:off x="5207650" y="1847500"/>
            <a:ext cx="3803825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 txBox="1"/>
          <p:nvPr/>
        </p:nvSpPr>
        <p:spPr>
          <a:xfrm>
            <a:off x="3420000" y="2011026"/>
            <a:ext cx="166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a</a:t>
            </a:r>
            <a:r>
              <a:rPr baseline="30000" lang="sv" sz="1800">
                <a:solidFill>
                  <a:srgbClr val="00447B"/>
                </a:solidFill>
              </a:rPr>
              <a:t>2</a:t>
            </a:r>
            <a:r>
              <a:rPr lang="sv" sz="1800">
                <a:solidFill>
                  <a:srgbClr val="00447B"/>
                </a:solidFill>
              </a:rPr>
              <a:t> + 10a + 25</a:t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420000" y="26368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b) (10 + b)</a:t>
            </a:r>
            <a:r>
              <a:rPr baseline="30000" lang="sv" sz="1800">
                <a:solidFill>
                  <a:srgbClr val="00447B"/>
                </a:solidFill>
              </a:rPr>
              <a:t>2</a:t>
            </a:r>
            <a:r>
              <a:rPr lang="sv" sz="1800">
                <a:solidFill>
                  <a:srgbClr val="00447B"/>
                </a:solidFill>
              </a:rPr>
              <a:t> = 10</a:t>
            </a:r>
            <a:r>
              <a:rPr baseline="30000" lang="sv" sz="1800">
                <a:solidFill>
                  <a:srgbClr val="00447B"/>
                </a:solidFill>
              </a:rPr>
              <a:t>2 </a:t>
            </a:r>
            <a:r>
              <a:rPr lang="sv" sz="1800">
                <a:solidFill>
                  <a:srgbClr val="00447B"/>
                </a:solidFill>
              </a:rPr>
              <a:t>+ 20b + b</a:t>
            </a:r>
            <a:r>
              <a:rPr baseline="30000" lang="sv" sz="1800">
                <a:solidFill>
                  <a:srgbClr val="00447B"/>
                </a:solidFill>
              </a:rPr>
              <a:t>2</a:t>
            </a:r>
            <a:r>
              <a:rPr lang="sv" sz="1800">
                <a:solidFill>
                  <a:srgbClr val="00447B"/>
                </a:solidFill>
              </a:rPr>
              <a:t> </a:t>
            </a:r>
            <a:endParaRPr/>
          </a:p>
        </p:txBody>
      </p:sp>
      <p:sp>
        <p:nvSpPr>
          <p:cNvPr id="211" name="Google Shape;211;p24"/>
          <p:cNvSpPr txBox="1"/>
          <p:nvPr>
            <p:ph idx="1" type="body"/>
          </p:nvPr>
        </p:nvSpPr>
        <p:spPr>
          <a:xfrm>
            <a:off x="1675187" y="2037016"/>
            <a:ext cx="185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a</a:t>
            </a:r>
            <a:r>
              <a:rPr baseline="30000" lang="sv"/>
              <a:t>2</a:t>
            </a:r>
            <a:r>
              <a:rPr lang="sv"/>
              <a:t> + 2∙a∙5 + 5</a:t>
            </a:r>
            <a:r>
              <a:rPr baseline="30000" lang="sv"/>
              <a:t>2</a:t>
            </a:r>
            <a:r>
              <a:rPr lang="sv"/>
              <a:t> =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0325" y="445025"/>
            <a:ext cx="4181974" cy="2198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5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Hela arean = (a + b)(a + b)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Hela arean alla “små-areor”: a</a:t>
            </a:r>
            <a:r>
              <a:rPr baseline="30000" lang="sv"/>
              <a:t>2</a:t>
            </a:r>
            <a:r>
              <a:rPr lang="sv"/>
              <a:t> + ba + ab + a</a:t>
            </a:r>
            <a:r>
              <a:rPr baseline="30000" lang="sv"/>
              <a:t>2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Vilken regel är det?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Kvaderingsregel geogebra</a:t>
            </a:r>
            <a:endParaRPr/>
          </a:p>
        </p:txBody>
      </p:sp>
      <p:pic>
        <p:nvPicPr>
          <p:cNvPr id="224" name="Google Shape;22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5300" y="1170125"/>
            <a:ext cx="7446300" cy="17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6"/>
          <p:cNvSpPr txBox="1"/>
          <p:nvPr/>
        </p:nvSpPr>
        <p:spPr>
          <a:xfrm>
            <a:off x="451175" y="3609450"/>
            <a:ext cx="529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2100" u="sng">
                <a:solidFill>
                  <a:schemeClr val="hlink"/>
                </a:solidFill>
                <a:hlinkClick r:id="rId4"/>
              </a:rPr>
              <a:t>Calculator Suite - GeoGebra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Räkna uppgifter så det sitter ordentligt</a:t>
            </a:r>
            <a:endParaRPr/>
          </a:p>
        </p:txBody>
      </p:sp>
      <p:sp>
        <p:nvSpPr>
          <p:cNvPr id="231" name="Google Shape;231;p27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 sz="2000"/>
              <a:t>Uppgifter finns på sidan 73, 75. Räkna dessa please.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Faktorisering</a:t>
            </a:r>
            <a:endParaRPr/>
          </a:p>
        </p:txBody>
      </p:sp>
      <p:sp>
        <p:nvSpPr>
          <p:cNvPr id="237" name="Google Shape;237;p28"/>
          <p:cNvSpPr txBox="1"/>
          <p:nvPr>
            <p:ph idx="1" type="body"/>
          </p:nvPr>
        </p:nvSpPr>
        <p:spPr>
          <a:xfrm>
            <a:off x="311700" y="1152475"/>
            <a:ext cx="862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Faktorer - delarna i en multiplikation - ex 3x är faktor 3 och faktor x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Faktorisering - Dela upp uttryck i faktorer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Från matte 1B:  (3x</a:t>
            </a:r>
            <a:r>
              <a:rPr baseline="30000" lang="sv"/>
              <a:t>2</a:t>
            </a:r>
            <a:r>
              <a:rPr lang="sv"/>
              <a:t> + x) kan faktoriseras till x(3x + 1) genom att “bryta ut” x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Men den här då: x</a:t>
            </a:r>
            <a:r>
              <a:rPr baseline="30000" lang="sv"/>
              <a:t>2</a:t>
            </a:r>
            <a:r>
              <a:rPr lang="sv"/>
              <a:t> - 4? Kan vi faktorisera den?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(x - 2)(x + 2) = x</a:t>
            </a:r>
            <a:r>
              <a:rPr baseline="30000" lang="sv"/>
              <a:t>2</a:t>
            </a:r>
            <a:r>
              <a:rPr lang="sv"/>
              <a:t> - 2</a:t>
            </a:r>
            <a:r>
              <a:rPr baseline="30000" lang="sv"/>
              <a:t>2</a:t>
            </a:r>
            <a:r>
              <a:rPr lang="sv"/>
              <a:t> = x</a:t>
            </a:r>
            <a:r>
              <a:rPr baseline="30000" lang="sv"/>
              <a:t>2</a:t>
            </a:r>
            <a:r>
              <a:rPr lang="sv"/>
              <a:t> - 4 enligt </a:t>
            </a:r>
            <a:r>
              <a:rPr b="1" i="1" lang="sv"/>
              <a:t>konjugatregeln</a:t>
            </a:r>
            <a:endParaRPr b="1" i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/>
              <a:t>åt andra hållet: x</a:t>
            </a:r>
            <a:r>
              <a:rPr baseline="30000" lang="sv"/>
              <a:t>2</a:t>
            </a:r>
            <a:r>
              <a:rPr lang="sv"/>
              <a:t> - 4 kan alltså faktoriseras till  (x - 2)(x + 2) enligt konjugatregeln!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Faktorisering med konjugatregeln</a:t>
            </a:r>
            <a:endParaRPr/>
          </a:p>
        </p:txBody>
      </p:sp>
      <p:sp>
        <p:nvSpPr>
          <p:cNvPr id="243" name="Google Shape;243;p29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/>
              <a:t>100 - x</a:t>
            </a:r>
            <a:r>
              <a:rPr b="1" baseline="30000" lang="sv"/>
              <a:t>2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100 - x</a:t>
            </a:r>
            <a:r>
              <a:rPr baseline="30000" lang="sv"/>
              <a:t>2 </a:t>
            </a:r>
            <a:r>
              <a:rPr lang="sv"/>
              <a:t>= 10</a:t>
            </a:r>
            <a:r>
              <a:rPr baseline="30000" lang="sv"/>
              <a:t>2</a:t>
            </a:r>
            <a:r>
              <a:rPr lang="sv"/>
              <a:t> - x</a:t>
            </a:r>
            <a:r>
              <a:rPr baseline="30000" lang="sv"/>
              <a:t>2</a:t>
            </a:r>
            <a:r>
              <a:rPr lang="sv"/>
              <a:t> = (10 - x)(10 + x)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sv"/>
              <a:t>y</a:t>
            </a:r>
            <a:r>
              <a:rPr b="1" baseline="30000" lang="sv"/>
              <a:t>2</a:t>
            </a:r>
            <a:r>
              <a:rPr b="1" lang="sv"/>
              <a:t> - 4x</a:t>
            </a:r>
            <a:r>
              <a:rPr b="1" baseline="30000" lang="sv"/>
              <a:t>2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y</a:t>
            </a:r>
            <a:r>
              <a:rPr baseline="30000" lang="sv"/>
              <a:t>2</a:t>
            </a:r>
            <a:r>
              <a:rPr lang="sv"/>
              <a:t> - 4x</a:t>
            </a:r>
            <a:r>
              <a:rPr baseline="30000" lang="sv"/>
              <a:t>2</a:t>
            </a:r>
            <a:r>
              <a:rPr lang="sv"/>
              <a:t> = y</a:t>
            </a:r>
            <a:r>
              <a:rPr baseline="30000" lang="sv"/>
              <a:t>2</a:t>
            </a:r>
            <a:r>
              <a:rPr lang="sv"/>
              <a:t> - (2x)</a:t>
            </a:r>
            <a:r>
              <a:rPr baseline="30000" lang="sv"/>
              <a:t>2</a:t>
            </a:r>
            <a:r>
              <a:rPr lang="sv"/>
              <a:t> = (y - 2x)(y + 2x)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sv"/>
              <a:t>36z</a:t>
            </a:r>
            <a:r>
              <a:rPr b="1" baseline="30000" lang="sv"/>
              <a:t>2</a:t>
            </a:r>
            <a:r>
              <a:rPr b="1" lang="sv"/>
              <a:t> - 25p</a:t>
            </a:r>
            <a:r>
              <a:rPr b="1" baseline="30000" lang="sv"/>
              <a:t>2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/>
              <a:t>36z</a:t>
            </a:r>
            <a:r>
              <a:rPr baseline="30000" lang="sv"/>
              <a:t>2</a:t>
            </a:r>
            <a:r>
              <a:rPr lang="sv"/>
              <a:t> - 25p</a:t>
            </a:r>
            <a:r>
              <a:rPr baseline="30000" lang="sv"/>
              <a:t>2</a:t>
            </a:r>
            <a:r>
              <a:rPr lang="sv"/>
              <a:t> = (6z)</a:t>
            </a:r>
            <a:r>
              <a:rPr baseline="30000" lang="sv"/>
              <a:t>2</a:t>
            </a:r>
            <a:r>
              <a:rPr lang="sv"/>
              <a:t> - (5p)</a:t>
            </a:r>
            <a:r>
              <a:rPr baseline="30000" lang="sv"/>
              <a:t>2</a:t>
            </a:r>
            <a:r>
              <a:rPr lang="sv"/>
              <a:t> = (6z - 5p)(6z + 5p)</a:t>
            </a:r>
            <a:endParaRPr/>
          </a:p>
        </p:txBody>
      </p:sp>
      <p:pic>
        <p:nvPicPr>
          <p:cNvPr id="244" name="Google Shape;244;p29"/>
          <p:cNvPicPr preferRelativeResize="0"/>
          <p:nvPr/>
        </p:nvPicPr>
        <p:blipFill rotWithShape="1">
          <a:blip r:embed="rId3">
            <a:alphaModFix/>
          </a:blip>
          <a:srcRect b="0" l="35359" r="0" t="0"/>
          <a:stretch/>
        </p:blipFill>
        <p:spPr>
          <a:xfrm>
            <a:off x="5378100" y="1152475"/>
            <a:ext cx="365722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Faktorisering med kvadreringsregler..</a:t>
            </a:r>
            <a:endParaRPr/>
          </a:p>
        </p:txBody>
      </p:sp>
      <p:sp>
        <p:nvSpPr>
          <p:cNvPr id="250" name="Google Shape;250;p30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4 + 4b + b</a:t>
            </a:r>
            <a:r>
              <a:rPr baseline="30000" lang="sv"/>
              <a:t>2</a:t>
            </a:r>
            <a:r>
              <a:rPr lang="sv"/>
              <a:t> = (2 + b)</a:t>
            </a:r>
            <a:r>
              <a:rPr baseline="30000" lang="sv"/>
              <a:t>2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4 - 4b + b</a:t>
            </a:r>
            <a:r>
              <a:rPr baseline="30000" lang="sv"/>
              <a:t>2</a:t>
            </a:r>
            <a:r>
              <a:rPr lang="sv"/>
              <a:t> = (2 - b)</a:t>
            </a:r>
            <a:r>
              <a:rPr baseline="30000" lang="sv"/>
              <a:t>2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30"/>
          <p:cNvPicPr preferRelativeResize="0"/>
          <p:nvPr/>
        </p:nvPicPr>
        <p:blipFill rotWithShape="1">
          <a:blip r:embed="rId3">
            <a:alphaModFix/>
          </a:blip>
          <a:srcRect b="0" l="30661" r="0" t="0"/>
          <a:stretch/>
        </p:blipFill>
        <p:spPr>
          <a:xfrm>
            <a:off x="4895948" y="1306400"/>
            <a:ext cx="3936351" cy="14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1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31"/>
          <p:cNvPicPr preferRelativeResize="0"/>
          <p:nvPr/>
        </p:nvPicPr>
        <p:blipFill rotWithShape="1">
          <a:blip r:embed="rId3">
            <a:alphaModFix/>
          </a:blip>
          <a:srcRect b="11363" l="0" r="0" t="0"/>
          <a:stretch/>
        </p:blipFill>
        <p:spPr>
          <a:xfrm>
            <a:off x="215250" y="1409950"/>
            <a:ext cx="8446949" cy="199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2"/>
          <p:cNvSpPr txBox="1"/>
          <p:nvPr>
            <p:ph idx="1" type="body"/>
          </p:nvPr>
        </p:nvSpPr>
        <p:spPr>
          <a:xfrm>
            <a:off x="311700" y="2264125"/>
            <a:ext cx="8350500" cy="23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sv"/>
              <a:t>5x</a:t>
            </a:r>
            <a:r>
              <a:rPr baseline="30000" lang="sv"/>
              <a:t>2</a:t>
            </a:r>
            <a:r>
              <a:rPr lang="sv"/>
              <a:t> - 3(x + 2)(x - 3) = 5x</a:t>
            </a:r>
            <a:r>
              <a:rPr baseline="30000" lang="sv"/>
              <a:t>2</a:t>
            </a:r>
            <a:r>
              <a:rPr lang="sv"/>
              <a:t> -3(x</a:t>
            </a:r>
            <a:r>
              <a:rPr baseline="30000" lang="sv"/>
              <a:t>2</a:t>
            </a:r>
            <a:r>
              <a:rPr lang="sv"/>
              <a:t>-3x+2x-6) = 5x</a:t>
            </a:r>
            <a:r>
              <a:rPr baseline="30000" lang="sv"/>
              <a:t>2</a:t>
            </a:r>
            <a:r>
              <a:rPr lang="sv"/>
              <a:t> - 3(x</a:t>
            </a:r>
            <a:r>
              <a:rPr baseline="30000" lang="sv"/>
              <a:t>2</a:t>
            </a:r>
            <a:r>
              <a:rPr lang="sv"/>
              <a:t>- x - 6)=5x</a:t>
            </a:r>
            <a:r>
              <a:rPr baseline="30000" lang="sv"/>
              <a:t>2</a:t>
            </a:r>
            <a:r>
              <a:rPr lang="sv"/>
              <a:t> - 3x</a:t>
            </a:r>
            <a:r>
              <a:rPr baseline="30000" lang="sv"/>
              <a:t>2</a:t>
            </a:r>
            <a:r>
              <a:rPr lang="sv"/>
              <a:t>+3x+18   = 2x</a:t>
            </a:r>
            <a:r>
              <a:rPr baseline="30000" lang="sv"/>
              <a:t>2</a:t>
            </a:r>
            <a:r>
              <a:rPr lang="sv"/>
              <a:t> + 3x + 18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sv"/>
              <a:t>4s(s + 3) - (2s + 1)(2s - 3) = 4s</a:t>
            </a:r>
            <a:r>
              <a:rPr baseline="30000" lang="sv"/>
              <a:t>2</a:t>
            </a:r>
            <a:r>
              <a:rPr lang="sv"/>
              <a:t> + 12s - (4s</a:t>
            </a:r>
            <a:r>
              <a:rPr baseline="30000" lang="sv"/>
              <a:t>2</a:t>
            </a:r>
            <a:r>
              <a:rPr lang="sv"/>
              <a:t> - 6s + 2s - 3) = 4s</a:t>
            </a:r>
            <a:r>
              <a:rPr baseline="30000" lang="sv"/>
              <a:t>2</a:t>
            </a:r>
            <a:r>
              <a:rPr lang="sv"/>
              <a:t> + 12s - 4s</a:t>
            </a:r>
            <a:r>
              <a:rPr baseline="30000" lang="sv"/>
              <a:t>2</a:t>
            </a:r>
            <a:r>
              <a:rPr lang="sv"/>
              <a:t> + 6s - 2s + 3 = 16s + 3</a:t>
            </a:r>
            <a:endParaRPr/>
          </a:p>
        </p:txBody>
      </p:sp>
      <p:pic>
        <p:nvPicPr>
          <p:cNvPr id="265" name="Google Shape;265;p32"/>
          <p:cNvPicPr preferRelativeResize="0"/>
          <p:nvPr/>
        </p:nvPicPr>
        <p:blipFill rotWithShape="1">
          <a:blip r:embed="rId3">
            <a:alphaModFix/>
          </a:blip>
          <a:srcRect b="76184" l="0" r="0" t="0"/>
          <a:stretch/>
        </p:blipFill>
        <p:spPr>
          <a:xfrm>
            <a:off x="311710" y="445021"/>
            <a:ext cx="5340701" cy="122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Räkna uppgifter så det sitter ordentligt</a:t>
            </a:r>
            <a:endParaRPr/>
          </a:p>
        </p:txBody>
      </p:sp>
      <p:sp>
        <p:nvSpPr>
          <p:cNvPr id="271" name="Google Shape;271;p33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 sz="2000"/>
              <a:t>Uppgifter finns på sidan 77. Räkna denna please.</a:t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4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Sammanfattning s.79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Testa dig själv s.81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Blandade övningar s.82-85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Repetitionsuppgifter s.262-263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5"/>
          <p:cNvSpPr txBox="1"/>
          <p:nvPr>
            <p:ph idx="1" type="body"/>
          </p:nvPr>
        </p:nvSpPr>
        <p:spPr>
          <a:xfrm>
            <a:off x="311700" y="1597775"/>
            <a:ext cx="8350500" cy="29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1600" y="0"/>
            <a:ext cx="4830000" cy="130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6"/>
          <p:cNvSpPr txBox="1"/>
          <p:nvPr>
            <p:ph idx="1" type="body"/>
          </p:nvPr>
        </p:nvSpPr>
        <p:spPr>
          <a:xfrm>
            <a:off x="311700" y="1718150"/>
            <a:ext cx="8350500" cy="28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2225" y="256775"/>
            <a:ext cx="544830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7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p37"/>
          <p:cNvPicPr preferRelativeResize="0"/>
          <p:nvPr/>
        </p:nvPicPr>
        <p:blipFill rotWithShape="1">
          <a:blip r:embed="rId3">
            <a:alphaModFix/>
          </a:blip>
          <a:srcRect b="76032" l="0" r="0" t="0"/>
          <a:stretch/>
        </p:blipFill>
        <p:spPr>
          <a:xfrm>
            <a:off x="4790275" y="498025"/>
            <a:ext cx="3940025" cy="159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8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05" name="Google Shape;305;p38"/>
          <p:cNvPicPr preferRelativeResize="0"/>
          <p:nvPr/>
        </p:nvPicPr>
        <p:blipFill rotWithShape="1">
          <a:blip r:embed="rId3">
            <a:alphaModFix/>
          </a:blip>
          <a:srcRect b="46350" l="0" r="0" t="28571"/>
          <a:stretch/>
        </p:blipFill>
        <p:spPr>
          <a:xfrm>
            <a:off x="5066900" y="445025"/>
            <a:ext cx="3765400" cy="159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9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39"/>
          <p:cNvPicPr preferRelativeResize="0"/>
          <p:nvPr/>
        </p:nvPicPr>
        <p:blipFill rotWithShape="1">
          <a:blip r:embed="rId3">
            <a:alphaModFix/>
          </a:blip>
          <a:srcRect b="1351" l="0" r="0" t="73729"/>
          <a:stretch/>
        </p:blipFill>
        <p:spPr>
          <a:xfrm>
            <a:off x="4609400" y="445025"/>
            <a:ext cx="4271875" cy="179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Sid 81</a:t>
            </a:r>
            <a:endParaRPr/>
          </a:p>
        </p:txBody>
      </p:sp>
      <p:sp>
        <p:nvSpPr>
          <p:cNvPr id="318" name="Google Shape;318;p40"/>
          <p:cNvSpPr txBox="1"/>
          <p:nvPr>
            <p:ph idx="1" type="body"/>
          </p:nvPr>
        </p:nvSpPr>
        <p:spPr>
          <a:xfrm>
            <a:off x="311700" y="1152475"/>
            <a:ext cx="479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Gör inte denna uppgift. Den handlar om regression som vi inte gått igenom.</a:t>
            </a:r>
            <a:endParaRPr/>
          </a:p>
        </p:txBody>
      </p:sp>
      <p:pic>
        <p:nvPicPr>
          <p:cNvPr id="319" name="Google Shape;31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0450" y="196975"/>
            <a:ext cx="3804151" cy="3539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" name="Google Shape;320;p40"/>
          <p:cNvCxnSpPr/>
          <p:nvPr/>
        </p:nvCxnSpPr>
        <p:spPr>
          <a:xfrm>
            <a:off x="5449925" y="361150"/>
            <a:ext cx="3162600" cy="33378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40"/>
          <p:cNvCxnSpPr/>
          <p:nvPr/>
        </p:nvCxnSpPr>
        <p:spPr>
          <a:xfrm flipH="1">
            <a:off x="5318650" y="218875"/>
            <a:ext cx="3501900" cy="3425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Sid 82</a:t>
            </a:r>
            <a:endParaRPr/>
          </a:p>
        </p:txBody>
      </p:sp>
      <p:sp>
        <p:nvSpPr>
          <p:cNvPr id="327" name="Google Shape;327;p41"/>
          <p:cNvSpPr txBox="1"/>
          <p:nvPr>
            <p:ph idx="1" type="body"/>
          </p:nvPr>
        </p:nvSpPr>
        <p:spPr>
          <a:xfrm>
            <a:off x="311700" y="1152475"/>
            <a:ext cx="4568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/>
              <a:t>Gör inte denna uppgift. Den handlar om regression som vi inte gått igenom</a:t>
            </a:r>
            <a:endParaRPr/>
          </a:p>
        </p:txBody>
      </p:sp>
      <p:pic>
        <p:nvPicPr>
          <p:cNvPr id="328" name="Google Shape;32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9519" y="395750"/>
            <a:ext cx="3532679" cy="39910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9" name="Google Shape;329;p41"/>
          <p:cNvCxnSpPr/>
          <p:nvPr/>
        </p:nvCxnSpPr>
        <p:spPr>
          <a:xfrm>
            <a:off x="5449925" y="361150"/>
            <a:ext cx="3162600" cy="33378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41"/>
          <p:cNvCxnSpPr/>
          <p:nvPr/>
        </p:nvCxnSpPr>
        <p:spPr>
          <a:xfrm flipH="1">
            <a:off x="5318650" y="218875"/>
            <a:ext cx="3501900" cy="3425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G Whi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
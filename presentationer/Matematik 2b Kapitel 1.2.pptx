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aleway SemiBold"/>
      <p:regular r:id="rId31"/>
      <p:bold r:id="rId32"/>
      <p:italic r:id="rId33"/>
      <p:boldItalic r:id="rId34"/>
    </p:embeddedFont>
    <p:embeddedFont>
      <p:font typeface="Raleway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2AC09D-BAA9-4C8D-8641-3ADD5EE25110}">
  <a:tblStyle styleId="{F02AC09D-BAA9-4C8D-8641-3ADD5EE25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SemiBold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alewaySemiBold-italic.fntdata"/><Relationship Id="rId10" Type="http://schemas.openxmlformats.org/officeDocument/2006/relationships/slide" Target="slides/slide4.xml"/><Relationship Id="rId32" Type="http://schemas.openxmlformats.org/officeDocument/2006/relationships/font" Target="fonts/RalewaySemiBold-bold.fntdata"/><Relationship Id="rId13" Type="http://schemas.openxmlformats.org/officeDocument/2006/relationships/slide" Target="slides/slide7.xml"/><Relationship Id="rId35" Type="http://schemas.openxmlformats.org/officeDocument/2006/relationships/font" Target="fonts/Raleway-regular.fntdata"/><Relationship Id="rId12" Type="http://schemas.openxmlformats.org/officeDocument/2006/relationships/slide" Target="slides/slide6.xml"/><Relationship Id="rId34" Type="http://schemas.openxmlformats.org/officeDocument/2006/relationships/font" Target="fonts/Raleway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Raleway-italic.fntdata"/><Relationship Id="rId14" Type="http://schemas.openxmlformats.org/officeDocument/2006/relationships/slide" Target="slides/slide8.xml"/><Relationship Id="rId36" Type="http://schemas.openxmlformats.org/officeDocument/2006/relationships/font" Target="fonts/Raleway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Raleway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09b478ce0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09b478ce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09b478ce0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09b478ce0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409b478ce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409b478ce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09b4ebb75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409b4ebb75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09b478ce0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09b478ce0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09b4dde4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09b4dde4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9b478ce0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09b478ce0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09b478ce0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09b478ce0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409b478ce0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409b478ce0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9b478ce0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409b478ce0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09b478ce0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09b478ce0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09b478ce0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09b478ce0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09b478ce0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409b478ce0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409b478ce0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409b478ce0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09b478ce0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09b478ce0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409b478ce0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409b478ce0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09b478ce0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409b478ce0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09b478ce0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09b478ce0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09b780d74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409b780d74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09b478ce0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09b478ce0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409b780d74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409b780d74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409b780d74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409b780d74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09b780d74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409b780d74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02650" y="250900"/>
            <a:ext cx="5229600" cy="3423300"/>
          </a:xfrm>
          <a:prstGeom prst="rect">
            <a:avLst/>
          </a:prstGeom>
          <a:effectLst>
            <a:outerShdw blurRad="57150" rotWithShape="0" algn="bl" dir="5400000" dist="1905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>
                <a:solidFill>
                  <a:srgbClr val="00447B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02650" y="3811600"/>
            <a:ext cx="426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0062A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602650" y="3674200"/>
            <a:ext cx="1606800" cy="1374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209450" y="3674200"/>
            <a:ext cx="1606800" cy="1374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816250" y="3674200"/>
            <a:ext cx="1580100" cy="1374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27704" l="0" r="0" t="0"/>
          <a:stretch/>
        </p:blipFill>
        <p:spPr>
          <a:xfrm>
            <a:off x="761875" y="1331901"/>
            <a:ext cx="2840775" cy="2622099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700000" dist="76200">
              <a:srgbClr val="00447B">
                <a:alpha val="82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 för avsnitt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b="1" sz="3600"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0" name="Google Shape;20;p3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7" name="Google Shape;27;p4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6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7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4800"/>
              <a:buNone/>
              <a:defRPr sz="4800">
                <a:solidFill>
                  <a:srgbClr val="0044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Google Shape;57;p8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9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4" name="Google Shape;74;p10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78" name="Google Shape;7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83" name="Google Shape;8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2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A7"/>
              </a:buClr>
              <a:buSzPts val="2800"/>
              <a:buFont typeface="Raleway SemiBold"/>
              <a:buNone/>
              <a:defRPr sz="2800"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1800"/>
              <a:buChar char="●"/>
              <a:defRPr sz="1800">
                <a:solidFill>
                  <a:srgbClr val="00447B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●"/>
              <a:defRPr>
                <a:solidFill>
                  <a:srgbClr val="00447B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●"/>
              <a:defRPr>
                <a:solidFill>
                  <a:srgbClr val="00447B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Relationship Id="rId5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image" Target="../media/image31.png"/><Relationship Id="rId7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ctrTitle"/>
          </p:nvPr>
        </p:nvSpPr>
        <p:spPr>
          <a:xfrm>
            <a:off x="3602650" y="250900"/>
            <a:ext cx="5229600" cy="3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Matematik 2B</a:t>
            </a:r>
            <a:endParaRPr/>
          </a:p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3602650" y="3811600"/>
            <a:ext cx="5229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Kapitel 1.2 Linjära modeller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1.2 Linjära modeller</a:t>
            </a:r>
            <a:endParaRPr/>
          </a:p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311700" y="1726675"/>
            <a:ext cx="4899600" cy="28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sv"/>
            </a:br>
            <a:r>
              <a:rPr lang="sv"/>
              <a:t>Formel: y = 3x + 8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Tabell:  </a:t>
            </a:r>
            <a:r>
              <a:rPr lang="sv" u="sng"/>
              <a:t>x | y</a:t>
            </a:r>
            <a:br>
              <a:rPr lang="sv"/>
            </a:br>
            <a:r>
              <a:rPr lang="sv"/>
              <a:t>            1 | 11</a:t>
            </a:r>
            <a:br>
              <a:rPr lang="sv"/>
            </a:br>
            <a:r>
              <a:rPr lang="sv"/>
              <a:t>            3 | 17</a:t>
            </a:r>
            <a:br>
              <a:rPr lang="sv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85850"/>
            <a:ext cx="593525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0624" y="114546"/>
            <a:ext cx="2715625" cy="47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589925" y="2017650"/>
            <a:ext cx="7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Graf: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Funktion</a:t>
            </a:r>
            <a:endParaRPr/>
          </a:p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31539"/>
            <a:ext cx="8350499" cy="2531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13270" r="0" t="0"/>
          <a:stretch/>
        </p:blipFill>
        <p:spPr>
          <a:xfrm>
            <a:off x="4408725" y="118500"/>
            <a:ext cx="2946125" cy="47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Rita graf</a:t>
            </a:r>
            <a:endParaRPr/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311700" y="1152475"/>
            <a:ext cx="835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rita grafen till y = 2x - 5</a:t>
            </a:r>
            <a:endParaRPr/>
          </a:p>
        </p:txBody>
      </p:sp>
      <p:graphicFrame>
        <p:nvGraphicFramePr>
          <p:cNvPr id="122" name="Google Shape;122;p16"/>
          <p:cNvGraphicFramePr/>
          <p:nvPr/>
        </p:nvGraphicFramePr>
        <p:xfrm>
          <a:off x="840450" y="241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{F02AC09D-BAA9-4C8D-8641-3ADD5EE25110}</a:tableStyleId>
              </a:tblPr>
              <a:tblGrid>
                <a:gridCol w="382850"/>
                <a:gridCol w="163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 u="sng"/>
                        <a:t>x</a:t>
                      </a:r>
                      <a:endParaRPr b="1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 u="sng"/>
                        <a:t>y = 2x - 5</a:t>
                      </a:r>
                      <a:endParaRPr b="1" u="sng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 sz="1800"/>
                        <a:t>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 sz="1800"/>
                        <a:t>2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 sz="1800"/>
                        <a:t>3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2057"/>
          <a:stretch/>
        </p:blipFill>
        <p:spPr>
          <a:xfrm>
            <a:off x="4408725" y="118500"/>
            <a:ext cx="2946125" cy="47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481800" y="1956488"/>
            <a:ext cx="835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   Gör en enkel tabell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300003" y="2794438"/>
            <a:ext cx="5538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-3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1313738" y="3229443"/>
            <a:ext cx="5538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-1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381551" y="3702831"/>
            <a:ext cx="5538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1</a:t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311700" y="643777"/>
            <a:ext cx="83505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y = 2x - 5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sv"/>
              <a:t>Bestäm y då x = 5.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56925" y="2062004"/>
            <a:ext cx="26157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y(5) = 2*5 - 5 = 5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Svar y(5) = 5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rgbClr val="00447B"/>
                </a:solidFill>
              </a:rPr>
              <a:t>(man kan även se det i grafen)</a:t>
            </a:r>
            <a:endParaRPr sz="1300">
              <a:solidFill>
                <a:srgbClr val="00447B"/>
              </a:solidFill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742" y="445025"/>
            <a:ext cx="2434731" cy="39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311700" y="183602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Testa punkt (3, 425)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y(3) = 250 + 75*3 = 475   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punkten (3, 425) ligger inte på grafen!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Testa punkt (5, 625)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y(5) = 250 + 75*5 = 625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punkten (5, 625) ligger på grafen!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 b="46910" l="0" r="0" t="0"/>
          <a:stretch/>
        </p:blipFill>
        <p:spPr>
          <a:xfrm>
            <a:off x="323850" y="219075"/>
            <a:ext cx="6210300" cy="12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311700" y="2536900"/>
            <a:ext cx="8520600" cy="25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sv"/>
              <a:t>y(2) = 250 + 75*2 = </a:t>
            </a:r>
            <a:r>
              <a:rPr lang="sv"/>
              <a:t>400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y(6) = 250 + 75*6 = 700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Nej 700 är inte dubbelt så stort som 400!</a:t>
            </a:r>
            <a:endParaRPr/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7431425" cy="16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Repetition - räta linjens ekvation y = kx + m</a:t>
            </a:r>
            <a:endParaRPr/>
          </a:p>
        </p:txBody>
      </p:sp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540300" y="4573081"/>
            <a:ext cx="2046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Positiv lutning (k)</a:t>
            </a:r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4990025" y="4578669"/>
            <a:ext cx="2046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Negativ lutning (k)</a:t>
            </a:r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3">
            <a:alphaModFix/>
          </a:blip>
          <a:srcRect b="12752" l="0" r="0" t="12893"/>
          <a:stretch/>
        </p:blipFill>
        <p:spPr>
          <a:xfrm>
            <a:off x="540300" y="1101000"/>
            <a:ext cx="2143850" cy="23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 rotWithShape="1">
          <a:blip r:embed="rId4">
            <a:alphaModFix/>
          </a:blip>
          <a:srcRect b="46054" l="0" r="66304" t="0"/>
          <a:stretch/>
        </p:blipFill>
        <p:spPr>
          <a:xfrm>
            <a:off x="540300" y="3459125"/>
            <a:ext cx="972500" cy="62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 rotWithShape="1">
          <a:blip r:embed="rId4">
            <a:alphaModFix/>
          </a:blip>
          <a:srcRect b="26030" l="0" r="0" t="51513"/>
          <a:stretch/>
        </p:blipFill>
        <p:spPr>
          <a:xfrm>
            <a:off x="540532" y="4080876"/>
            <a:ext cx="2886075" cy="2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4">
            <a:alphaModFix/>
          </a:blip>
          <a:srcRect b="-1203" l="0" r="0" t="74583"/>
          <a:stretch/>
        </p:blipFill>
        <p:spPr>
          <a:xfrm>
            <a:off x="540525" y="4350999"/>
            <a:ext cx="2886075" cy="30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0036" y="1101000"/>
            <a:ext cx="2349024" cy="23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6">
            <a:alphaModFix/>
          </a:blip>
          <a:srcRect b="48589" l="0" r="66253" t="0"/>
          <a:stretch/>
        </p:blipFill>
        <p:spPr>
          <a:xfrm>
            <a:off x="4990025" y="3515725"/>
            <a:ext cx="92877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6">
            <a:alphaModFix/>
          </a:blip>
          <a:srcRect b="25367" l="0" r="0" t="51399"/>
          <a:stretch/>
        </p:blipFill>
        <p:spPr>
          <a:xfrm>
            <a:off x="4990025" y="4069569"/>
            <a:ext cx="2752100" cy="2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6">
            <a:alphaModFix/>
          </a:blip>
          <a:srcRect b="-2806" l="0" r="0" t="75265"/>
          <a:stretch/>
        </p:blipFill>
        <p:spPr>
          <a:xfrm>
            <a:off x="4990025" y="4339695"/>
            <a:ext cx="2752100" cy="30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4">
            <a:alphaModFix/>
          </a:blip>
          <a:srcRect b="46054" l="57539" r="16581" t="0"/>
          <a:stretch/>
        </p:blipFill>
        <p:spPr>
          <a:xfrm>
            <a:off x="1484442" y="3462830"/>
            <a:ext cx="746925" cy="62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6">
            <a:alphaModFix/>
          </a:blip>
          <a:srcRect b="48591" l="59131" r="10242" t="0"/>
          <a:stretch/>
        </p:blipFill>
        <p:spPr>
          <a:xfrm>
            <a:off x="5897375" y="3506272"/>
            <a:ext cx="842850" cy="57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Specialfall</a:t>
            </a:r>
            <a:endParaRPr/>
          </a:p>
        </p:txBody>
      </p:sp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692700" y="1304875"/>
            <a:ext cx="27678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y = 3 (konstant, k = 0) </a:t>
            </a:r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1869850"/>
            <a:ext cx="2675600" cy="23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3575" y="1932125"/>
            <a:ext cx="2675600" cy="2532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5371175" y="1304875"/>
            <a:ext cx="34308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x = 3 (saknar k, ingen funktion)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 txBox="1"/>
          <p:nvPr>
            <p:ph idx="1" type="body"/>
          </p:nvPr>
        </p:nvSpPr>
        <p:spPr>
          <a:xfrm>
            <a:off x="254800" y="1644650"/>
            <a:ext cx="3756900" cy="2918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 a) Vi har (x, y) från punkten (3, -2)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Vi vet att k = 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 y = k*x + m</a:t>
            </a:r>
            <a:br>
              <a:rPr lang="sv"/>
            </a:br>
            <a:r>
              <a:rPr lang="sv"/>
              <a:t>-2 = 4*3 + m</a:t>
            </a:r>
            <a:br>
              <a:rPr lang="sv"/>
            </a:br>
            <a:r>
              <a:rPr lang="sv"/>
              <a:t>-2 = 12 + m           (-12 båda sidor)</a:t>
            </a:r>
            <a:br>
              <a:rPr lang="sv"/>
            </a:br>
            <a:r>
              <a:rPr lang="sv"/>
              <a:t>m = -14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Ekvationen: y = 4x - 14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75" y="342900"/>
            <a:ext cx="573405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4350300" y="1650375"/>
            <a:ext cx="3756900" cy="2918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b) Vi har (x, y) från punkten (3, -2)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Vi vet att k = -3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  = k*x + m</a:t>
            </a:r>
            <a:br>
              <a:rPr lang="sv"/>
            </a:br>
            <a:r>
              <a:rPr lang="sv"/>
              <a:t>-2 = (-3)*3 + m</a:t>
            </a:r>
            <a:br>
              <a:rPr lang="sv"/>
            </a:br>
            <a:r>
              <a:rPr lang="sv"/>
              <a:t>-2 = -9 + m           (+9 båda sidor)</a:t>
            </a:r>
            <a:br>
              <a:rPr lang="sv"/>
            </a:br>
            <a:r>
              <a:rPr lang="sv"/>
              <a:t>m = 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Ekvationen: y = -3x  + 7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188" name="Google Shape;188;p23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27 och 30 - 31. Räkna dessa please.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Mer om räta linjer</a:t>
            </a:r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311700" y="1152475"/>
            <a:ext cx="409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Båda har k = 3 (positiv lutning)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Blå har m = +3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Grön har m = +1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Linjer med samma k-värde är parallella (de korsar aldrig varandra).</a:t>
            </a:r>
            <a:endParaRPr/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125" y="284650"/>
            <a:ext cx="3021125" cy="455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Vinkelräta linjer (90 grader)</a:t>
            </a:r>
            <a:endParaRPr/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387900" y="2163325"/>
            <a:ext cx="835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Vinkelräta linjer </a:t>
            </a:r>
            <a:r>
              <a:rPr lang="sv" u="sng"/>
              <a:t>alltid</a:t>
            </a:r>
            <a:r>
              <a:rPr lang="sv"/>
              <a:t> k</a:t>
            </a:r>
            <a:r>
              <a:rPr baseline="-25000" lang="sv"/>
              <a:t>1</a:t>
            </a:r>
            <a:r>
              <a:rPr lang="sv"/>
              <a:t>* k</a:t>
            </a:r>
            <a:r>
              <a:rPr baseline="-25000" lang="sv"/>
              <a:t>2</a:t>
            </a:r>
            <a:r>
              <a:rPr lang="sv"/>
              <a:t> = -1</a:t>
            </a:r>
            <a:endParaRPr/>
          </a:p>
        </p:txBody>
      </p:sp>
      <p:pic>
        <p:nvPicPr>
          <p:cNvPr id="202" name="Google Shape;2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104" y="1044825"/>
            <a:ext cx="4019451" cy="35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047750"/>
            <a:ext cx="21272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100" y="1581150"/>
            <a:ext cx="265893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Flera sätt att skriva räta linjen</a:t>
            </a:r>
            <a:endParaRPr/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311700" y="2994825"/>
            <a:ext cx="83505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y = 3x + 1 (det vi brukar använda)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3x - y + 1 = 0 (allmän form, men samma ekvation som y = 3x + 1)</a:t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185898"/>
            <a:ext cx="7577401" cy="116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311700" y="2424375"/>
            <a:ext cx="8350500" cy="25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Vi skriver alla på y = kx + m formen så att det går att jämföra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L</a:t>
            </a:r>
            <a:r>
              <a:rPr baseline="-25000" lang="sv"/>
              <a:t>1</a:t>
            </a:r>
            <a:r>
              <a:rPr lang="sv"/>
              <a:t>: y = -4x      L</a:t>
            </a:r>
            <a:r>
              <a:rPr baseline="-25000" lang="sv"/>
              <a:t>2</a:t>
            </a:r>
            <a:r>
              <a:rPr lang="sv"/>
              <a:t>: y = ¼*x + 3      L</a:t>
            </a:r>
            <a:r>
              <a:rPr baseline="-25000" lang="sv"/>
              <a:t>3</a:t>
            </a:r>
            <a:r>
              <a:rPr lang="sv"/>
              <a:t>: y = 4x + 2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ingen linje har samma k-värde. Ej parallella.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k</a:t>
            </a:r>
            <a:r>
              <a:rPr baseline="-25000" lang="sv"/>
              <a:t>1</a:t>
            </a:r>
            <a:r>
              <a:rPr lang="sv"/>
              <a:t>= -4, k</a:t>
            </a:r>
            <a:r>
              <a:rPr baseline="-25000" lang="sv"/>
              <a:t>2</a:t>
            </a:r>
            <a:r>
              <a:rPr lang="sv"/>
              <a:t> = 1/4, k</a:t>
            </a:r>
            <a:r>
              <a:rPr baseline="-25000" lang="sv"/>
              <a:t>3</a:t>
            </a:r>
            <a:r>
              <a:rPr lang="sv"/>
              <a:t> = 4</a:t>
            </a:r>
            <a:br>
              <a:rPr lang="sv"/>
            </a:br>
            <a:r>
              <a:rPr lang="sv"/>
              <a:t>k</a:t>
            </a:r>
            <a:r>
              <a:rPr baseline="-25000" lang="sv"/>
              <a:t>1</a:t>
            </a:r>
            <a:r>
              <a:rPr lang="sv"/>
              <a:t>∙ k</a:t>
            </a:r>
            <a:r>
              <a:rPr baseline="-25000" lang="sv"/>
              <a:t>2</a:t>
            </a:r>
            <a:r>
              <a:rPr lang="sv"/>
              <a:t>= -1 då är L</a:t>
            </a:r>
            <a:r>
              <a:rPr baseline="-25000" lang="sv"/>
              <a:t>1</a:t>
            </a:r>
            <a:r>
              <a:rPr lang="sv"/>
              <a:t> och L</a:t>
            </a:r>
            <a:r>
              <a:rPr baseline="-25000" lang="sv"/>
              <a:t>2 </a:t>
            </a:r>
            <a:r>
              <a:rPr lang="sv"/>
              <a:t>vinkelräta (-4∙1/4 = -1)</a:t>
            </a:r>
            <a:endParaRPr/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" y="381000"/>
            <a:ext cx="805815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311700" y="1672675"/>
            <a:ext cx="3412800" cy="28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Testar först på linjen y = -3x + 1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VL = 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HL = -3*(-1) + 1 = 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VL = HL     check!</a:t>
            </a:r>
            <a:endParaRPr/>
          </a:p>
        </p:txBody>
      </p:sp>
      <p:pic>
        <p:nvPicPr>
          <p:cNvPr id="225" name="Google Shape;22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850" y="368825"/>
            <a:ext cx="535305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4449325" y="1672675"/>
            <a:ext cx="4125900" cy="28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Testar sedan på linjen 5x - 3y = -17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VL = 5*(-1) - 3*4 = -17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HL = -17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VL = HL      check!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34. Räkna dessa please.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Linjär regression</a:t>
            </a:r>
            <a:endParaRPr/>
          </a:p>
        </p:txBody>
      </p:sp>
      <p:sp>
        <p:nvSpPr>
          <p:cNvPr id="238" name="Google Shape;238;p30"/>
          <p:cNvSpPr txBox="1"/>
          <p:nvPr>
            <p:ph idx="1" type="body"/>
          </p:nvPr>
        </p:nvSpPr>
        <p:spPr>
          <a:xfrm>
            <a:off x="311700" y="1152475"/>
            <a:ext cx="5103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Anpassning av graf till mätvärden - ögonmått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50" y="1659150"/>
            <a:ext cx="6407075" cy="13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9850" y="95250"/>
            <a:ext cx="2100500" cy="36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 rotWithShape="1">
          <a:blip r:embed="rId5">
            <a:alphaModFix/>
          </a:blip>
          <a:srcRect b="73130" l="0" r="0" t="0"/>
          <a:stretch/>
        </p:blipFill>
        <p:spPr>
          <a:xfrm>
            <a:off x="1078500" y="3577688"/>
            <a:ext cx="4550575" cy="35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0"/>
          <p:cNvPicPr preferRelativeResize="0"/>
          <p:nvPr/>
        </p:nvPicPr>
        <p:blipFill rotWithShape="1">
          <a:blip r:embed="rId5">
            <a:alphaModFix/>
          </a:blip>
          <a:srcRect b="26844" l="0" r="0" t="26640"/>
          <a:stretch/>
        </p:blipFill>
        <p:spPr>
          <a:xfrm>
            <a:off x="1101100" y="3942320"/>
            <a:ext cx="4550575" cy="62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0"/>
          <p:cNvPicPr preferRelativeResize="0"/>
          <p:nvPr/>
        </p:nvPicPr>
        <p:blipFill rotWithShape="1">
          <a:blip r:embed="rId5">
            <a:alphaModFix/>
          </a:blip>
          <a:srcRect b="884" l="0" r="0" t="72247"/>
          <a:stretch/>
        </p:blipFill>
        <p:spPr>
          <a:xfrm>
            <a:off x="1078493" y="4518819"/>
            <a:ext cx="4550575" cy="35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1101100" y="3071000"/>
            <a:ext cx="3153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Linjens ekvation: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Med digitalt verktyg - Geogebra!</a:t>
            </a:r>
            <a:endParaRPr/>
          </a:p>
        </p:txBody>
      </p:sp>
      <p:pic>
        <p:nvPicPr>
          <p:cNvPr id="250" name="Google Shape;2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4069"/>
            <a:ext cx="9144000" cy="146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/>
          <p:cNvPicPr preferRelativeResize="0"/>
          <p:nvPr/>
        </p:nvPicPr>
        <p:blipFill rotWithShape="1">
          <a:blip r:embed="rId4">
            <a:alphaModFix/>
          </a:blip>
          <a:srcRect b="0" l="0" r="20980" t="0"/>
          <a:stretch/>
        </p:blipFill>
        <p:spPr>
          <a:xfrm>
            <a:off x="378475" y="2995748"/>
            <a:ext cx="2571975" cy="20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0675" y="2894009"/>
            <a:ext cx="4130400" cy="220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1"/>
          <p:cNvPicPr preferRelativeResize="0"/>
          <p:nvPr/>
        </p:nvPicPr>
        <p:blipFill rotWithShape="1">
          <a:blip r:embed="rId6">
            <a:alphaModFix/>
          </a:blip>
          <a:srcRect b="26211" l="65435" r="0" t="27538"/>
          <a:stretch/>
        </p:blipFill>
        <p:spPr>
          <a:xfrm>
            <a:off x="6025250" y="3802100"/>
            <a:ext cx="20281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700" y="2443953"/>
            <a:ext cx="8520600" cy="440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 txBox="1"/>
          <p:nvPr>
            <p:ph idx="1" type="body"/>
          </p:nvPr>
        </p:nvSpPr>
        <p:spPr>
          <a:xfrm>
            <a:off x="311700" y="2525965"/>
            <a:ext cx="56571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 är tillväxthastigheten per dygn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m är hur hög rosen var när mätningar påbörjades</a:t>
            </a:r>
            <a:endParaRPr/>
          </a:p>
        </p:txBody>
      </p:sp>
      <p:pic>
        <p:nvPicPr>
          <p:cNvPr id="261" name="Google Shape;2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950" y="9"/>
            <a:ext cx="4130400" cy="220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2"/>
          <p:cNvPicPr preferRelativeResize="0"/>
          <p:nvPr/>
        </p:nvPicPr>
        <p:blipFill rotWithShape="1">
          <a:blip r:embed="rId4">
            <a:alphaModFix/>
          </a:blip>
          <a:srcRect b="26211" l="65435" r="0" t="27538"/>
          <a:stretch/>
        </p:blipFill>
        <p:spPr>
          <a:xfrm>
            <a:off x="6737425" y="1156875"/>
            <a:ext cx="20281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2"/>
          <p:cNvPicPr preferRelativeResize="0"/>
          <p:nvPr/>
        </p:nvPicPr>
        <p:blipFill rotWithShape="1">
          <a:blip r:embed="rId5">
            <a:alphaModFix/>
          </a:blip>
          <a:srcRect b="72143" l="0" r="0" t="0"/>
          <a:stretch/>
        </p:blipFill>
        <p:spPr>
          <a:xfrm>
            <a:off x="163700" y="2204275"/>
            <a:ext cx="9143999" cy="41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2"/>
          <p:cNvPicPr preferRelativeResize="0"/>
          <p:nvPr/>
        </p:nvPicPr>
        <p:blipFill rotWithShape="1">
          <a:blip r:embed="rId5">
            <a:alphaModFix/>
          </a:blip>
          <a:srcRect b="28167" l="0" r="0" t="29439"/>
          <a:stretch/>
        </p:blipFill>
        <p:spPr>
          <a:xfrm>
            <a:off x="163700" y="3554509"/>
            <a:ext cx="9143999" cy="62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311700" y="4125203"/>
            <a:ext cx="56571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y(7) = 2*7+7,5 = 21,5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Svar: höjd efter 7 dagar är 21,5 cm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Exempel</a:t>
            </a:r>
            <a:endParaRPr/>
          </a:p>
        </p:txBody>
      </p:sp>
      <p:sp>
        <p:nvSpPr>
          <p:cNvPr id="271" name="Google Shape;271;p33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En punkt (0, 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En till punkt (8,6)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m = +2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k = 4/8 = 0,5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y = 0,5x + 2</a:t>
            </a:r>
            <a:endParaRPr/>
          </a:p>
        </p:txBody>
      </p:sp>
      <p:pic>
        <p:nvPicPr>
          <p:cNvPr id="272" name="Google Shape;272;p33"/>
          <p:cNvPicPr preferRelativeResize="0"/>
          <p:nvPr/>
        </p:nvPicPr>
        <p:blipFill rotWithShape="1">
          <a:blip r:embed="rId3">
            <a:alphaModFix/>
          </a:blip>
          <a:srcRect b="1970" l="0" r="0" t="0"/>
          <a:stretch/>
        </p:blipFill>
        <p:spPr>
          <a:xfrm>
            <a:off x="3539650" y="254200"/>
            <a:ext cx="5122550" cy="421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Exempel</a:t>
            </a:r>
            <a:endParaRPr/>
          </a:p>
        </p:txBody>
      </p:sp>
      <p:sp>
        <p:nvSpPr>
          <p:cNvPr id="278" name="Google Shape;278;p34"/>
          <p:cNvSpPr txBox="1"/>
          <p:nvPr>
            <p:ph idx="1" type="body"/>
          </p:nvPr>
        </p:nvSpPr>
        <p:spPr>
          <a:xfrm>
            <a:off x="90425" y="14350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Punkter: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(2, 4)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(4, 3)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(6, 6)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(8, 5)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Geogebra!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34"/>
          <p:cNvPicPr preferRelativeResize="0"/>
          <p:nvPr/>
        </p:nvPicPr>
        <p:blipFill rotWithShape="1">
          <a:blip r:embed="rId3">
            <a:alphaModFix/>
          </a:blip>
          <a:srcRect b="19335" l="0" r="0" t="0"/>
          <a:stretch/>
        </p:blipFill>
        <p:spPr>
          <a:xfrm>
            <a:off x="3539650" y="254200"/>
            <a:ext cx="5122550" cy="346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675" y="3648925"/>
            <a:ext cx="46482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2503375" cy="20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6276" y="1446975"/>
            <a:ext cx="5636025" cy="326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175" y="3706043"/>
            <a:ext cx="2503375" cy="708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själva please!</a:t>
            </a:r>
            <a:endParaRPr/>
          </a:p>
        </p:txBody>
      </p:sp>
      <p:sp>
        <p:nvSpPr>
          <p:cNvPr id="295" name="Google Shape;295;p36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Sidan 37 och 38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G Whi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
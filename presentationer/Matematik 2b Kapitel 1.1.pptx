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aleway SemiBold"/>
      <p:regular r:id="rId40"/>
      <p:bold r:id="rId41"/>
      <p:italic r:id="rId42"/>
      <p:boldItalic r:id="rId43"/>
    </p:embeddedFont>
    <p:embeddedFont>
      <p:font typeface="Raleway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RalewaySemiBold-italic.fntdata"/><Relationship Id="rId41" Type="http://schemas.openxmlformats.org/officeDocument/2006/relationships/font" Target="fonts/RalewaySemiBold-bold.fntdata"/><Relationship Id="rId22" Type="http://schemas.openxmlformats.org/officeDocument/2006/relationships/slide" Target="slides/slide17.xml"/><Relationship Id="rId44" Type="http://schemas.openxmlformats.org/officeDocument/2006/relationships/font" Target="fonts/Raleway-regular.fntdata"/><Relationship Id="rId21" Type="http://schemas.openxmlformats.org/officeDocument/2006/relationships/slide" Target="slides/slide16.xml"/><Relationship Id="rId43" Type="http://schemas.openxmlformats.org/officeDocument/2006/relationships/font" Target="fonts/RalewaySemiBold-boldItalic.fntdata"/><Relationship Id="rId24" Type="http://schemas.openxmlformats.org/officeDocument/2006/relationships/slide" Target="slides/slide19.xml"/><Relationship Id="rId46" Type="http://schemas.openxmlformats.org/officeDocument/2006/relationships/font" Target="fonts/Raleway-italic.fntdata"/><Relationship Id="rId23" Type="http://schemas.openxmlformats.org/officeDocument/2006/relationships/slide" Target="slides/slide18.xml"/><Relationship Id="rId45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aleway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2e0b74b4a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2e0b74b4a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2e0b74b4a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2e0b74b4a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8979fb06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8979fb0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8979fb06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8979fb06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979fb0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8979fb0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8979fb06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8979fb06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8979fb06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8979fb06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8979fb06c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8979fb06c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8979fb06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8979fb06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979fb06c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8979fb06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8979fb06c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8979fb06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8979fb06c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8979fb06c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8979fb06c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8979fb06c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8979fb06c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8979fb06c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8979fb06c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8979fb06c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8979fb06c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78979fb06c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6ea082d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6ea082d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735c1a8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735c1a8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735c1a87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7735c1a87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735c1a87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735c1a87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735c1a87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7735c1a87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735c1a87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735c1a87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735c1a87d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735c1a87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735c1a87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735c1a87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735c1a87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735c1a87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9984c39b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9984c39b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740f33e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740f33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7adf2b9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7adf2b9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7adf2b9e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77adf2b9e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7adf2b9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7adf2b9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57ca619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457ca619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57ca619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457ca619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57ca619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457ca619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  <a:effectLst>
            <a:outerShdw blurRad="57150" rotWithShape="0" algn="bl" dir="5400000" dist="1905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solidFill>
                  <a:srgbClr val="00447B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02650" y="3811600"/>
            <a:ext cx="426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0062A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602650" y="3674200"/>
            <a:ext cx="1606800" cy="1374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209450" y="3674200"/>
            <a:ext cx="1606800" cy="1374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816250" y="3674200"/>
            <a:ext cx="1580100" cy="1374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27704" l="0" r="0" t="0"/>
          <a:stretch/>
        </p:blipFill>
        <p:spPr>
          <a:xfrm>
            <a:off x="761875" y="1331901"/>
            <a:ext cx="2840775" cy="2622099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700000" dist="76200">
              <a:srgbClr val="00447B">
                <a:alpha val="82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 för avsnit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b="1" sz="3600"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0" name="Google Shape;20;p3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4800"/>
              <a:buNone/>
              <a:defRPr sz="4800">
                <a:solidFill>
                  <a:srgbClr val="0044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8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p10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78" name="Google Shape;7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3" name="Google Shape;8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1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569419" y="4663225"/>
            <a:ext cx="443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00447B"/>
                </a:solidFill>
              </a:defRPr>
            </a:lvl1pPr>
            <a:lvl2pPr lvl="1" rtl="0">
              <a:buNone/>
              <a:defRPr>
                <a:solidFill>
                  <a:srgbClr val="00447B"/>
                </a:solidFill>
              </a:defRPr>
            </a:lvl2pPr>
            <a:lvl3pPr lvl="2" rtl="0">
              <a:buNone/>
              <a:defRPr>
                <a:solidFill>
                  <a:srgbClr val="00447B"/>
                </a:solidFill>
              </a:defRPr>
            </a:lvl3pPr>
            <a:lvl4pPr lvl="3" rtl="0">
              <a:buNone/>
              <a:defRPr>
                <a:solidFill>
                  <a:srgbClr val="00447B"/>
                </a:solidFill>
              </a:defRPr>
            </a:lvl4pPr>
            <a:lvl5pPr lvl="4" rtl="0">
              <a:buNone/>
              <a:defRPr>
                <a:solidFill>
                  <a:srgbClr val="00447B"/>
                </a:solidFill>
              </a:defRPr>
            </a:lvl5pPr>
            <a:lvl6pPr lvl="5" rtl="0">
              <a:buNone/>
              <a:defRPr>
                <a:solidFill>
                  <a:srgbClr val="00447B"/>
                </a:solidFill>
              </a:defRPr>
            </a:lvl6pPr>
            <a:lvl7pPr lvl="6" rtl="0">
              <a:buNone/>
              <a:defRPr>
                <a:solidFill>
                  <a:srgbClr val="00447B"/>
                </a:solidFill>
              </a:defRPr>
            </a:lvl7pPr>
            <a:lvl8pPr lvl="7" rtl="0">
              <a:buNone/>
              <a:defRPr>
                <a:solidFill>
                  <a:srgbClr val="00447B"/>
                </a:solidFill>
              </a:defRPr>
            </a:lvl8pPr>
            <a:lvl9pPr lvl="8" rtl="0">
              <a:buNone/>
              <a:defRPr>
                <a:solidFill>
                  <a:srgbClr val="00447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4201" y="4752205"/>
            <a:ext cx="993700" cy="3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/>
          <p:nvPr/>
        </p:nvSpPr>
        <p:spPr>
          <a:xfrm flipH="1" rot="10800000">
            <a:off x="311700" y="106351"/>
            <a:ext cx="946800" cy="81000"/>
          </a:xfrm>
          <a:prstGeom prst="rect">
            <a:avLst/>
          </a:prstGeom>
          <a:solidFill>
            <a:srgbClr val="00447B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 flipH="1" rot="10800000">
            <a:off x="1258470" y="106351"/>
            <a:ext cx="946800" cy="81000"/>
          </a:xfrm>
          <a:prstGeom prst="rect">
            <a:avLst/>
          </a:prstGeom>
          <a:solidFill>
            <a:srgbClr val="0062A7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 flipH="1" rot="10800000">
            <a:off x="2205239" y="106351"/>
            <a:ext cx="930900" cy="81000"/>
          </a:xfrm>
          <a:prstGeom prst="rect">
            <a:avLst/>
          </a:prstGeom>
          <a:solidFill>
            <a:srgbClr val="FFCC00"/>
          </a:solidFill>
          <a:ln>
            <a:noFill/>
          </a:ln>
          <a:effectLst>
            <a:outerShdw blurRad="228600" rotWithShape="0" algn="bl" dir="5700000" dist="76200">
              <a:srgbClr val="00447B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A7"/>
              </a:buClr>
              <a:buSzPts val="2800"/>
              <a:buFont typeface="Raleway SemiBold"/>
              <a:buNone/>
              <a:defRPr sz="2800">
                <a:solidFill>
                  <a:srgbClr val="0062A7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47B"/>
              </a:buClr>
              <a:buSzPts val="1800"/>
              <a:buChar char="●"/>
              <a:defRPr sz="1800">
                <a:solidFill>
                  <a:srgbClr val="00447B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●"/>
              <a:defRPr>
                <a:solidFill>
                  <a:srgbClr val="00447B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447B"/>
              </a:buClr>
              <a:buSzPts val="1400"/>
              <a:buChar char="○"/>
              <a:defRPr>
                <a:solidFill>
                  <a:srgbClr val="00447B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447B"/>
              </a:buClr>
              <a:buSzPts val="1400"/>
              <a:buChar char="■"/>
              <a:defRPr>
                <a:solidFill>
                  <a:srgbClr val="00447B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geogebra.org/classic" TargetMode="External"/><Relationship Id="rId4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geogebra.org/calculator" TargetMode="External"/><Relationship Id="rId4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ctrTitle"/>
          </p:nvPr>
        </p:nvSpPr>
        <p:spPr>
          <a:xfrm>
            <a:off x="3602650" y="250900"/>
            <a:ext cx="5229600" cy="3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Matematik 2B</a:t>
            </a:r>
            <a:endParaRPr/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3602650" y="3811600"/>
            <a:ext cx="522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Kapitel 1.1 Repetition räkneregler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Algebra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Ett av de bästa verktygen i matematiken!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5486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Problemlösning de lux</a:t>
            </a:r>
            <a:r>
              <a:rPr lang="sv"/>
              <a:t>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075" y="1870075"/>
            <a:ext cx="5561675" cy="21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Centralt innehåll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﻿﻿Begreppet linjärt ekvationssystem.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﻿﻿Begreppet korrelationskoefficient.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﻿﻿Metoder för att lösa linjära ekvationssystem.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﻿﻿Motivering och hantering av konjugat-och kvadreringsreglerna.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﻿﻿Problemlösning som omfattar begrepp och metoder i kursen, med särskild </a:t>
            </a:r>
            <a:r>
              <a:rPr lang="sv" sz="2000">
                <a:solidFill>
                  <a:schemeClr val="dk1"/>
                </a:solidFill>
              </a:rPr>
              <a:t>utgångspunkt</a:t>
            </a:r>
            <a:r>
              <a:rPr lang="sv" sz="2000">
                <a:solidFill>
                  <a:schemeClr val="dk1"/>
                </a:solidFill>
              </a:rPr>
              <a:t> i karaktärsämnen och samhällsliv.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Kapitlets</a:t>
            </a:r>
            <a:r>
              <a:rPr lang="sv"/>
              <a:t> upplägg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Kapitlet börjar med en repetition av räkneregler, bråkräkning, algebraiska uttryck och ekvationer samt räta linjens ekvation.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Vi arbetar med linjära ekvationssystem, dvs. flera ekvationer som hör ihop. Här fảr du lära dig att lösa ekvationssystem både grafiskt och algebraiskt.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sv" sz="2000">
                <a:solidFill>
                  <a:schemeClr val="dk1"/>
                </a:solidFill>
              </a:rPr>
              <a:t>Kapitlet avslutas med multiplikation av parentesuttryck och du får lära dig att använda några algebraiska regler för detta.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Då kör vi igång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I kap 1.1 sid 10 - 25 repeterar vi: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sv"/>
              <a:t>Negativa tal, prioriteringsregler och bråk. (IDAG)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v"/>
              <a:t>Algebra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sv"/>
              <a:t>Ekvationer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Negativa tal - addition och subtraktion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40682" l="0" r="0" t="36407"/>
          <a:stretch/>
        </p:blipFill>
        <p:spPr>
          <a:xfrm>
            <a:off x="325450" y="1110575"/>
            <a:ext cx="6664301" cy="117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19219" l="0" r="0" t="58784"/>
          <a:stretch/>
        </p:blipFill>
        <p:spPr>
          <a:xfrm>
            <a:off x="228425" y="2472450"/>
            <a:ext cx="6664301" cy="113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80609"/>
          <a:stretch/>
        </p:blipFill>
        <p:spPr>
          <a:xfrm>
            <a:off x="249100" y="3790950"/>
            <a:ext cx="6664301" cy="9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sv"/>
              <a:t>multiplikation och division</a:t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74273" l="0" r="0" t="6856"/>
          <a:stretch/>
        </p:blipFill>
        <p:spPr>
          <a:xfrm>
            <a:off x="121700" y="1343150"/>
            <a:ext cx="8900601" cy="97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45094" l="0" r="0" t="32590"/>
          <a:stretch/>
        </p:blipFill>
        <p:spPr>
          <a:xfrm>
            <a:off x="121700" y="2438125"/>
            <a:ext cx="8900601" cy="114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Sammanfattning</a:t>
            </a:r>
            <a:endParaRPr/>
          </a:p>
        </p:txBody>
      </p:sp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 b="1065" l="0" r="0" t="68232"/>
          <a:stretch/>
        </p:blipFill>
        <p:spPr>
          <a:xfrm>
            <a:off x="197900" y="1832900"/>
            <a:ext cx="8900601" cy="15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Prioriteringsreglerna (i vilken ordning det räknas)</a:t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1257300"/>
            <a:ext cx="79629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Minnesregler PEMDAS och mattedjävulen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540300" y="1152475"/>
            <a:ext cx="278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/>
              <a:t>P</a:t>
            </a:r>
            <a:r>
              <a:rPr lang="sv"/>
              <a:t> - parenteser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E</a:t>
            </a:r>
            <a:r>
              <a:rPr lang="sv"/>
              <a:t> - exponenter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M</a:t>
            </a:r>
            <a:r>
              <a:rPr lang="sv"/>
              <a:t> - multiplikation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D</a:t>
            </a:r>
            <a:r>
              <a:rPr lang="sv"/>
              <a:t> - division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sv"/>
              <a:t>A</a:t>
            </a:r>
            <a:r>
              <a:rPr lang="sv"/>
              <a:t> - addition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sv"/>
              <a:t>S</a:t>
            </a:r>
            <a:r>
              <a:rPr lang="sv"/>
              <a:t> - subtraktion</a:t>
            </a:r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4525" y="1579563"/>
            <a:ext cx="202882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Vi testar lite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11700" y="1152475"/>
            <a:ext cx="8350500" cy="10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5 + 3 ∙ 2  = 11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5 - (-5) </a:t>
            </a:r>
            <a:r>
              <a:rPr lang="sv"/>
              <a:t>∙ 2 = 15		(om vi tagit 5 - (-5) först hade det blivit 20 istf 15)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3"/>
          <p:cNvPicPr preferRelativeResize="0"/>
          <p:nvPr/>
        </p:nvPicPr>
        <p:blipFill rotWithShape="1">
          <a:blip r:embed="rId3">
            <a:alphaModFix/>
          </a:blip>
          <a:srcRect b="0" l="0" r="9910" t="0"/>
          <a:stretch/>
        </p:blipFill>
        <p:spPr>
          <a:xfrm>
            <a:off x="152400" y="2386075"/>
            <a:ext cx="22482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2358075" y="2606350"/>
            <a:ext cx="25596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= (9 - (-6)) / (7 - 2) = 3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Bråk addition och subtraktion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11700" y="1076275"/>
            <a:ext cx="83505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Samma nämnare (lättast)</a:t>
            </a:r>
            <a:endParaRPr/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25" y="1690875"/>
            <a:ext cx="31813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311700" y="2600275"/>
            <a:ext cx="83505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Inte samma nämnare (börja med att se till att det blir samma nämnare)</a:t>
            </a:r>
            <a:endParaRPr/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69675"/>
            <a:ext cx="6496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Bråk - multiplikation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11700" y="1152475"/>
            <a:ext cx="8350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Multiplikation av två bråk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2752675"/>
            <a:ext cx="8350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Multiplikation av heltal och bråk</a:t>
            </a:r>
            <a:endParaRPr/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678075"/>
            <a:ext cx="22860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 b="10370" l="0" r="0" t="0"/>
          <a:stretch/>
        </p:blipFill>
        <p:spPr>
          <a:xfrm>
            <a:off x="457200" y="3354475"/>
            <a:ext cx="2114550" cy="7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Bråk - division</a:t>
            </a:r>
            <a:endParaRPr/>
          </a:p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11700" y="1152475"/>
            <a:ext cx="83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/>
              <a:t>Bråket</a:t>
            </a:r>
            <a:r>
              <a:rPr lang="sv"/>
              <a:t> i täljaren multipliceras med det </a:t>
            </a:r>
            <a:r>
              <a:rPr i="1" lang="sv"/>
              <a:t>inverterade</a:t>
            </a:r>
            <a:r>
              <a:rPr lang="sv"/>
              <a:t> talet till </a:t>
            </a:r>
            <a:r>
              <a:rPr lang="sv"/>
              <a:t>bråket</a:t>
            </a:r>
            <a:r>
              <a:rPr lang="sv"/>
              <a:t> i nämnaren.</a:t>
            </a:r>
            <a:endParaRPr/>
          </a:p>
        </p:txBody>
      </p:sp>
      <p:pic>
        <p:nvPicPr>
          <p:cNvPr id="190" name="Google Shape;1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877575"/>
            <a:ext cx="27432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Mera bråk</a:t>
            </a:r>
            <a:endParaRPr/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311700" y="1152475"/>
            <a:ext cx="83505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Blandad form -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900" y="1000075"/>
            <a:ext cx="31242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311700" y="2268000"/>
            <a:ext cx="46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Enklaste form - förkorta så långt det går</a:t>
            </a:r>
            <a:endParaRPr sz="1800">
              <a:solidFill>
                <a:srgbClr val="00447B"/>
              </a:solidFill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800" y="2152650"/>
            <a:ext cx="22479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Sammanfattning 4 räknesätten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2819"/>
            <a:ext cx="9144000" cy="245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själva please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12 och sidan 15. Inga digitala hjälpmedel ska användas (förutom 1108).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Algebraiska uttryck s.16-19</a:t>
            </a:r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1743075"/>
            <a:ext cx="7848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Omskrivning av uttryck</a:t>
            </a:r>
            <a:endParaRPr/>
          </a:p>
        </p:txBody>
      </p:sp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593601"/>
            <a:ext cx="8112974" cy="8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2"/>
          <p:cNvPicPr preferRelativeResize="0"/>
          <p:nvPr/>
        </p:nvPicPr>
        <p:blipFill rotWithShape="1">
          <a:blip r:embed="rId4">
            <a:alphaModFix/>
          </a:blip>
          <a:srcRect b="0" l="0" r="0" t="10362"/>
          <a:stretch/>
        </p:blipFill>
        <p:spPr>
          <a:xfrm>
            <a:off x="152400" y="2871725"/>
            <a:ext cx="8411575" cy="9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3005375"/>
            <a:ext cx="8084175" cy="75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359742"/>
            <a:ext cx="8411576" cy="985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1076325"/>
            <a:ext cx="75628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914400"/>
            <a:ext cx="729615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1125"/>
            <a:ext cx="8586001" cy="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Exempel</a:t>
            </a:r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311700" y="2416225"/>
            <a:ext cx="5242800" cy="21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omkrets = (x+2)+(x+1)+x = 3x + 3</a:t>
            </a:r>
            <a:br>
              <a:rPr lang="sv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area = (x+1)*x/2 = (x</a:t>
            </a:r>
            <a:r>
              <a:rPr baseline="30000" lang="sv"/>
              <a:t>2</a:t>
            </a:r>
            <a:r>
              <a:rPr lang="sv"/>
              <a:t> + x)/2</a:t>
            </a:r>
            <a:endParaRPr/>
          </a:p>
        </p:txBody>
      </p:sp>
      <p:pic>
        <p:nvPicPr>
          <p:cNvPr id="268" name="Google Shape;268;p37"/>
          <p:cNvPicPr preferRelativeResize="0"/>
          <p:nvPr/>
        </p:nvPicPr>
        <p:blipFill rotWithShape="1">
          <a:blip r:embed="rId3">
            <a:alphaModFix/>
          </a:blip>
          <a:srcRect b="0" l="0" r="4698" t="0"/>
          <a:stretch/>
        </p:blipFill>
        <p:spPr>
          <a:xfrm>
            <a:off x="304800" y="1190625"/>
            <a:ext cx="61000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9500" y="2377150"/>
            <a:ext cx="255270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18 och 19. Räkna dessa please.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Ekvationer s.20-25</a:t>
            </a:r>
            <a:endParaRPr/>
          </a:p>
        </p:txBody>
      </p:sp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En likhet med en eller flera variabler: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3x + 4 = 2x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3x + y =5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Ekvationens lösning kallas: rot (rötter om det finns flera)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 med en variabel - hitta roten</a:t>
            </a:r>
            <a:endParaRPr/>
          </a:p>
        </p:txBody>
      </p:sp>
      <p:pic>
        <p:nvPicPr>
          <p:cNvPr id="287" name="Google Shape;2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066800"/>
            <a:ext cx="59817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/>
        </p:nvSpPr>
        <p:spPr>
          <a:xfrm>
            <a:off x="1592200" y="2898275"/>
            <a:ext cx="2678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4x +2 = 6x-5             -4x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2 = 2x-5                    +5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7 = 2x                        /2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3,5 = x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x = 3,5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</p:txBody>
      </p:sp>
      <p:sp>
        <p:nvSpPr>
          <p:cNvPr id="289" name="Google Shape;289;p40"/>
          <p:cNvSpPr txBox="1"/>
          <p:nvPr/>
        </p:nvSpPr>
        <p:spPr>
          <a:xfrm>
            <a:off x="4811625" y="2940600"/>
            <a:ext cx="2678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Kontroll: 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VL = 4*3,5 + 2 = 16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HL = 6*3,5 - 5 = 16</a:t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447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447B"/>
                </a:solidFill>
              </a:rPr>
              <a:t>VL = HL       ok!</a:t>
            </a:r>
            <a:endParaRPr sz="1800">
              <a:solidFill>
                <a:srgbClr val="00447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1"/>
          <p:cNvSpPr txBox="1"/>
          <p:nvPr>
            <p:ph idx="1" type="body"/>
          </p:nvPr>
        </p:nvSpPr>
        <p:spPr>
          <a:xfrm>
            <a:off x="311700" y="2347950"/>
            <a:ext cx="8350500" cy="22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3x/6 + 2x/6 = 5x/6     (gör gemensam nämnare och summera vänster led)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5x/6 =15                  *6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5x = 90                    /5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x = 90/5 = 18</a:t>
            </a:r>
            <a:endParaRPr/>
          </a:p>
        </p:txBody>
      </p:sp>
      <p:pic>
        <p:nvPicPr>
          <p:cNvPr id="296" name="Google Shape;2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352425"/>
            <a:ext cx="514350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 med flera variabler - lös ut en variabel</a:t>
            </a:r>
            <a:r>
              <a:rPr lang="sv"/>
              <a:t> </a:t>
            </a:r>
            <a:endParaRPr/>
          </a:p>
        </p:txBody>
      </p:sp>
      <p:sp>
        <p:nvSpPr>
          <p:cNvPr id="302" name="Google Shape;302;p42"/>
          <p:cNvSpPr txBox="1"/>
          <p:nvPr>
            <p:ph idx="1" type="body"/>
          </p:nvPr>
        </p:nvSpPr>
        <p:spPr>
          <a:xfrm>
            <a:off x="311700" y="2692825"/>
            <a:ext cx="83505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2x + 10y = 4            -10y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2x = 4 -10y                /2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(4-10y)/2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sv"/>
              <a:t>x = 2(2-5y)/2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x = 2 -5y          </a:t>
            </a:r>
            <a:endParaRPr/>
          </a:p>
        </p:txBody>
      </p:sp>
      <p:pic>
        <p:nvPicPr>
          <p:cNvPr id="303" name="Google Shape;3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152525"/>
            <a:ext cx="582930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1174 (lite kluriga mått)</a:t>
            </a:r>
            <a:endParaRPr/>
          </a:p>
        </p:txBody>
      </p:sp>
      <p:sp>
        <p:nvSpPr>
          <p:cNvPr id="309" name="Google Shape;309;p43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4,5x + 3x + </a:t>
            </a:r>
            <a:r>
              <a:rPr lang="sv"/>
              <a:t>4,5x + 3x</a:t>
            </a:r>
            <a:r>
              <a:rPr lang="sv"/>
              <a:t> = 15x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5*15  = </a:t>
            </a:r>
            <a:r>
              <a:rPr lang="sv"/>
              <a:t>75 cm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sv"/>
              <a:t>15x = 210</a:t>
            </a:r>
            <a:br>
              <a:rPr lang="sv"/>
            </a:br>
            <a:r>
              <a:rPr lang="sv"/>
              <a:t>x = 210/15 = 14 cm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775" y="447675"/>
            <a:ext cx="4462850" cy="29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Ekvationer med digitala verktyg - grafräknare</a:t>
            </a:r>
            <a:endParaRPr/>
          </a:p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sv"/>
              <a:t>Vi använder geogebra classic </a:t>
            </a:r>
            <a:r>
              <a:rPr lang="sv" u="sng">
                <a:solidFill>
                  <a:schemeClr val="hlink"/>
                </a:solidFill>
                <a:hlinkClick r:id="rId3"/>
              </a:rPr>
              <a:t>https://www.geogebra.org/classic</a:t>
            </a:r>
            <a:r>
              <a:rPr lang="sv"/>
              <a:t> , </a:t>
            </a:r>
            <a:endParaRPr/>
          </a:p>
        </p:txBody>
      </p:sp>
      <p:pic>
        <p:nvPicPr>
          <p:cNvPr id="317" name="Google Shape;31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" y="1257300"/>
            <a:ext cx="77724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Ekvationer med digitala verktyg - CAS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5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/>
              <a:t>Vi använder geogebra </a:t>
            </a:r>
            <a:r>
              <a:rPr lang="sv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https://www.geogebra.org/calculator</a:t>
            </a:r>
            <a:r>
              <a:rPr lang="sv"/>
              <a:t> , CAS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25" y="1123950"/>
            <a:ext cx="79057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Räkna uppgifter så det sitter ordentligt</a:t>
            </a:r>
            <a:endParaRPr/>
          </a:p>
        </p:txBody>
      </p:sp>
      <p:sp>
        <p:nvSpPr>
          <p:cNvPr id="330" name="Google Shape;330;p46"/>
          <p:cNvSpPr txBox="1"/>
          <p:nvPr>
            <p:ph idx="1" type="body"/>
          </p:nvPr>
        </p:nvSpPr>
        <p:spPr>
          <a:xfrm>
            <a:off x="311700" y="1152475"/>
            <a:ext cx="835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sv" sz="2000"/>
              <a:t>Uppgifter finns på sidan 22-23 och 25. Räkna dessa please.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G Whi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